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Point to actual equipment. Ask which step needs an observation. Explain fixed pickup/drop is core; colors are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Define sensor and actuator with the actual station. Learners point to examples. A command acknowledgement is not object arrival.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Compare leader/follower/twin. A matching screen is not an independent sensor or payload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Ask what happens if the belt is moving at pickup. Fixed-fixture sequence first. Separate calibrated jaw actions and validated strokes.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Label the altered report clearly. Discuss lighting, occlusion and missing data. Unknown does not certify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a local station screenshot, not an external Maze. Show short log/repeat sequence and STOP. No internet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Read four lines aloud. Quotes store text; REPEATS stores a number. Ask what changes if TEAM changes. More code follows in practical 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Swap pair driver/observer. Point to STOP. Physical execution requires the instructor and prepared verified recordings. Begin the first local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 activity. These two cards share that one activity duration.
worked_example: Ready → dispense → belt to pickup endpoint → inspect. In simulation each command changes a model; no physical object is verified.
predict: Which message appears first? Where should the object model stop?
change: Change Ready to your pair name. Add repeat 2 around a message, then around one tested short sequence.
run: Open local Blockly simulation; select this mission; run the starter once. Use STOP and **Reset simulation** before a different test. Save your workspace.
observe: Read the command log and model state. Compare the repeated messages with your prediction.
explain: Why do instruction order and a stopped belt matter before pickup?
success: Your pair can trace the order, predict a repeat count and explain one corrected sequence.
offline_route: Draw each instruction on paper and move a paper object only when its instruction runs.
extension: Try an intentionally wrong order in simulation and explain the result.
Read from the top connection down.
Repeat repeats every block inside it; start with a message.
Instructor: Expected order is message, eject, endpoint, inspect. Repeat does not imply two verified physical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 activity. These two cards share that one activity duration.
worked_example: Ready → dispense → belt to pickup endpoint → inspect. In simulation each command changes a model; no physical object is verified.
predict: Which message appears first? Where should the object model stop?
change: Change Ready to your pair name. Add repeat 2 around a message, then around one tested short sequence.
run: Open local Blockly simulation; select this mission; run the starter once. Use STOP and **Reset simulation** before a different test. Save your workspace.
observe: Read the command log and model state. Compare the repeated messages with your prediction.
explain: Why do instruction order and a stopped belt matter before pickup?
success: Your pair can trace the order, predict a repeat count and explain one corrected sequence.
offline_route: Draw each instruction on paper and move a paper object only when its instruction runs.
extension: Try an intentionally wrong order in simulation and explain the result.
Read from the top connection down.
Repeat repeats every block inside it; start with a message.
Instructor: Expected order is message, eject, endpoint, inspect. Repeat does not imply two verified physical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An actual blue brick can have a missing report. An actual red brick can be reported blue. Both need inspection.
predict: Which of the three reports is missing? Which disagrees with the labelled object?
change: Change one report to None; then change one known report to a wrong known color.
run: Run the short Python example or trace its three rows on paper. Compare the real labelled photo with a deliberately changed report.
observe: Record actual object, reported label and your decision separately. None means missing, never zero or proof of empty space.
explain: Why can a fresh color label still be wrong? What evidence would justify continuing?
success: You identify one missing and one wrong report and choose pause/inspect for uncertainty.
offline_route: Use the supplied real photo and handwritten report cards; no camera or website is needed.
extension: Test unfamiliar green without adding a rule.
Compare actual and reported columns one row at a time.
A known word is still only a report.
Instructor: Missing is row two; wrong known label row three. Correct words alone do not validate a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An actual blue brick can have a missing report. An actual red brick can be reported blue. Both need inspection.
predict: Which of the three reports is missing? Which disagrees with the labelled object?
change: Change one report to None; then change one known report to a wrong known color.
run: Run the short Python example or trace its three rows on paper. Compare the real labelled photo with a deliberately changed report.
observe: Record actual object, reported label and your decision separately. None means missing, never zero or proof of empty space.
explain: Why can a fresh color label still be wrong? What evidence would justify continuing?
success: You identify one missing and one wrong report and choose pause/inspect for uncertainty.
offline_route: Use the supplied real photo and handwritten report cards; no camera or website is needed.
extension: Test unfamiliar green without adding a rule.
Compare actual and reported columns one row at a time.
A known word is still only a report.
Instructor: Missing is row two; wrong known label row three. Correct words alone do not validate a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 activity. These two cards share that one activity duration.
worked_example: TEAM stores text in quotes. REPEATS stores a number. print shows text. The indented line runs once for each number.
predict: What greeting and how many object lines will appear?
change: Change TEAM, predict, run. Then change REPEATS to 2, predict, run. Keep indentation.
run: Open the Student notebook, save a pair copy and run cells from the top with Shift+Enter. Run the shared Program example in simulation.
observe: Count output lines. Open **View executable Python** in Blockly and compare the command rows in its `program` list with `program.program` in the shared Python example. JSON is text that stores the instruction list. **Save blocks** saves the workspace to reopen the editor; it is a different file.
explain: Which edit changed text? Which changed how often a line ran? What stayed in the same order?
success: Both partners make one edit and explain it; shared commands are validated before execution.
offline_route: Run exercises/01_python.py using the prepared Python or trace it on paper. No package downloads.
extension: Change a wait or message in both Python and Blockly and compare command traces.
Quotes surround text; do not quote the number.
Four spaces keep print inside the loop.
Instructor: Original prints three object lines. Changing REPEATS resets the next run; Program simulation is not hardware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 activity. These two cards share that one activity duration.
worked_example: TEAM stores text in quotes. REPEATS stores a number. print shows text. The indented line runs once for each number.
predict: What greeting and how many object lines will appear?
change: Change TEAM, predict, run. Then change REPEATS to 2, predict, run. Keep indentation.
run: Open the Student notebook, save a pair copy and run cells from the top with Shift+Enter. Run the shared Program example in simulation.
observe: Count output lines. Open **View executable Python** in Blockly and compare the command rows in its `program` list with `program.program` in the shared Python example. JSON is text that stores the instruction list. **Save blocks** saves the workspace to reopen the editor; it is a different file.
explain: Which edit changed text? Which changed how often a line ran? What stayed in the same order?
success: Both partners make one edit and explain it; shared commands are validated before execution.
offline_route: Run exercises/01_python.py using the prepared Python or trace it on paper. No package downloads.
extension: Change a wait or message in both Python and Blockly and compare command traces.
Quotes surround text; do not quote the number.
Four spaces keep print inside the loop.
Instructor: Original prints three object lines. Changing REPEATS resets the next run; Program simulation is not hardware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activity. These two cards share that one activity duration.
worked_example: Leader 10°, follower 30°, leader now 15° gives relative request 35°. A request and a measured result are different.
predict: Will a replay start safely from any pose? What if the jaw state changed?
change: Ask the instructor to change one invented angle; predict before rerunning. Learners do not change physical modes.
run: Watch instructor: teach a short empty stroke, stop recording, inspect metadata and path, return safely to its validated start, then replay separately.
observe: Name start pose, endpoint, jaw state, identity/calibration and validity evidence. An invented demo recording is never a student-taught physical skill.
explain: Why must teaching and playback be separate runs? Why does a changed robot or calibration require reteaching?
success: You can say teach → inspect/validate → return to start → replay, and point to STOP.
offline_route: Use the invented joint example and paper start/end diagrams. Label evidence DEMO.
extension: Predict a relative versus absolute joint request.
A recording stores movement; it does not plan a safe approach from every pose.
A screen model can match commands while a physical object slips.
Instructor: Relative is 35 and absolute 15. Demonstrate only with prepared supervised hardware; if validation fails use paper and report physical gate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activity. These two cards share that one activity duration.
worked_example: Leader 10°, follower 30°, leader now 15° gives relative request 35°. A request and a measured result are different.
predict: Will a replay start safely from any pose? What if the jaw state changed?
change: Ask the instructor to change one invented angle; predict before rerunning. Learners do not change physical modes.
run: Watch instructor: teach a short empty stroke, stop recording, inspect metadata and path, return safely to its validated start, then replay separately.
observe: Name start pose, endpoint, jaw state, identity/calibration and validity evidence. An invented demo recording is never a student-taught physical skill.
explain: Why must teaching and playback be separate runs? Why does a changed robot or calibration require reteaching?
success: You can say teach → inspect/validate → return to start → replay, and point to STOP.
offline_route: Use the invented joint example and paper start/end diagrams. Label evidence DEMO.
extension: Predict a relative versus absolute joint request.
A recording stores movement; it does not plan a safe approach from every pose.
A screen model can match commands while a physical object slips.
Instructor: Relative is 35 and absolute 15. Demonstrate only with prepared supervised hardware; if validation fails use paper and report physical gate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Completed SIMULATION sample using the earlier invented joint calculation: our prediction was 35° relative. We changed LEADER_NOW from 10° to 15°, keeping LEADER_START = 10° and FOLLOWER_START = 30°. The model calculation 30 + 15 - 10 printed 35° relative and 15° absolute. This is arithmetic, not a measured physical joint or evidence of safe motion. For arm observation use the existing Teach demo example (Watch teach inspect return replay) and Live notebook. For conveyor reports use the Observe and decide example (Separate the object from its report). For offline preparation use the shared Program example under Change a name and a number.
predict: At your current station, predict one direction, report or sequence before the instructor or simulator acts.
change: Change only one paper angle, report or message; switch driver and observer halfway.
run: Each slot is 15 minutes: 2 predict, 7 change/run, 4 observe/explain, 2 save and transition. Use the rotation table.
observe: Arm: compare measured joint and twin when available. Conveyor: inspect stopped fixture/report. Offline: compare ordered traces. Label each evidence source.
explain: Which part measures, decides or acts? What can your evidence establish?
success: Every pair completes all three positions with one recorded prediction and evidence statement per position.
offline_route: All three positions have photo, paper and simulation versions; record DEMO/OFFLINE if no measured stream.
extension: Compare a fresh report with a stale one without guessing missing values.
The twin is a model updated from a stream.
Use the same short sequence at the offline table.
Instructor: No three physical robots implied. Instructor controls the arm path; preserve transition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Completed SIMULATION sample using the earlier invented joint calculation: our prediction was 35° relative. We changed LEADER_NOW from 10° to 15°, keeping LEADER_START = 10° and FOLLOWER_START = 30°. The model calculation 30 + 15 - 10 printed 35° relative and 15° absolute. This is arithmetic, not a measured physical joint or evidence of safe motion. For arm observation use the existing Teach demo example (Watch teach inspect return replay) and Live notebook. For conveyor reports use the Observe and decide example (Separate the object from its report). For offline preparation use the shared Program example under Change a name and a number.
predict: At your current station, predict one direction, report or sequence before the instructor or simulator acts.
change: Change only one paper angle, report or message; switch driver and observer halfway.
run: Each slot is 15 minutes: 2 predict, 7 change/run, 4 observe/explain, 2 save and transition. Use the rotation table.
observe: Arm: compare measured joint and twin when available. Conveyor: inspect stopped fixture/report. Offline: compare ordered traces. Label each evidence source.
explain: Which part measures, decides or acts? What can your evidence establish?
success: Every pair completes all three positions with one recorded prediction and evidence statement per position.
offline_route: All three positions have photo, paper and simulation versions; record DEMO/OFFLINE if no measured stream.
extension: Compare a fresh report with a stale one without guessing missing values.
The twin is a model updated from a stream.
Use the same short sequence at the offline table.
Instructor: No three physical robots implied. Instructor controls the arm path; preserve transition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EV3 dispense → conveyor to pickup fixture and stop → named taught skill fixed_pick_place. That skill binds validated approach/open, calibrated grasp, lift/transfer, release and return phases. Missing or uncommissioned qualification blocks physical execution; simulation labels every transfer synthetic.
predict: Where must the object and arm be before each next step? What should stop the run?
change: First reorder paper cards. In simulation use pick_place_recording named fixed_pick_place and change one message or delay. Physical execution requires instructor-validated phase recordings, measured jaw calibration and the qualification manifest; missing evidence is a blocking result.
run: Rotate: supervised integration, offline trace/rehearsal, failure/evidence desk. Each 15-minute slot includes 2 minutes transition. Run dispense, conveyor/stop and the named fixed_pick_place skill only through the existing shared endpoint. Instructor alone enables a qualified physical run; otherwise complete explicit synthetic simulation.
observe: Record dispense, stopped fixture arrival, grasp, lift, placement/release and return separately. A completed command does not prove object transfer.
explain: Which observation supports each claimed step? Which step remains unverified?
success: Your pair explains the full fixed-fixture sequence and records honest per-step evidence. Physical completion requires observed object transfer; offline completion is labelled rehearsal.
offline_route: Use the same fixed pickup/drop paper layout and named-skill simulation. Its grasp/lift/release outcomes are synthetic assumptions with physical_evidence false. Missing recordings or qualification means physical execution remains incomplete.
extension: After the core succeeds, discuss color-dependent destinations as separately validated taught skills.
Stop the conveyor before the arm approaches.
Start/end poses and jaw state of adjacent taught strokes must agree.
Instructor: Do not substitute demo recordings. Current historical operational notes remain evidence until a new physical rehearsal supersedes them. Never infer payload success from a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EV3 dispense → conveyor to pickup fixture and stop → named taught skill fixed_pick_place. That skill binds validated approach/open, calibrated grasp, lift/transfer, release and return phases. Missing or uncommissioned qualification blocks physical execution; simulation labels every transfer synthetic.
predict: Where must the object and arm be before each next step? What should stop the run?
change: First reorder paper cards. In simulation use pick_place_recording named fixed_pick_place and change one message or delay. Physical execution requires instructor-validated phase recordings, measured jaw calibration and the qualification manifest; missing evidence is a blocking result.
run: Rotate: supervised integration, offline trace/rehearsal, failure/evidence desk. Each 15-minute slot includes 2 minutes transition. Run dispense, conveyor/stop and the named fixed_pick_place skill only through the existing shared endpoint. Instructor alone enables a qualified physical run; otherwise complete explicit synthetic simulation.
observe: Record dispense, stopped fixture arrival, grasp, lift, placement/release and return separately. A completed command does not prove object transfer.
explain: Which observation supports each claimed step? Which step remains unverified?
success: Your pair explains the full fixed-fixture sequence and records honest per-step evidence. Physical completion requires observed object transfer; offline completion is labelled rehearsal.
offline_route: Use the same fixed pickup/drop paper layout and named-skill simulation. Its grasp/lift/release outcomes are synthetic assumptions with physical_evidence false. Missing recordings or qualification means physical execution remains incomplete.
extension: After the core succeeds, discuss color-dependent destinations as separately validated taught skills.
Stop the conveyor before the arm approaches.
Start/end poses and jaw state of adjacent taught strokes must agree.
Instructor: Do not substitute demo recordings. Current historical operational notes remain evidence until a new physical rehearsal supersedes them. Never infer payload success from a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A missing fixture observation pauses the sequence after one inspected object. Fix the observation path before retrying.
predict: What happens when the middle report is None?
change: Test one failure: missing report, wrong order, missing recording or STOP. Change one cause only and reset.
run: Reproduce in simulation or paper; record expected versus actual. Repair and rerun the same input.
observe: Capture the failure message, stopped state and repaired trace. No physical fault injection by learners.
explain: Did your test detect the problem? What could still fail on hardware?
success: You show a failing prediction, one repair and a repeated check with its limits.
offline_route: All failures can be traced with paper command/report cards.
extension: Use the optional color-routing example with three reds and one blue to expose swapped rules.
Choose one input so cause and effect stay clear.
A successful run alone cannot identify a wrong known report.
Instructor: Missing report stops after one; avoid relaxing admission or faking a report to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A missing fixture observation pauses the sequence after one inspected object. Fix the observation path before retrying.
predict: What happens when the middle report is None?
change: Test one failure: missing report, wrong order, missing recording or STOP. Change one cause only and reset.
run: Reproduce in simulation or paper; record expected versus actual. Repair and rerun the same input.
observe: Capture the failure message, stopped state and repaired trace. No physical fault injection by learners.
explain: Did your test detect the problem? What could still fail on hardware?
success: You show a failing prediction, one repair and a repeated check with its limits.
offline_route: All failures can be traced with paper command/report cards.
extension: Use the optional color-routing example with three reds and one blue to expose swapped rules.
Choose one input so cause and effect stay clear.
A successful run alone cannot identify a wrong known report.
Instructor: Missing report stops after one; avoid relaxing admission or faking a report to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 activity. These two cards share that one activity duration.
worked_example: Completed SIMULATION sample from the earlier Blockly message exercise: we predicted Ready would appear twice. We changed the repeat count from 1 to 2 around the Ready message. The simulated command log showed Ready twice. This checks message repetition only; it does not prove physical conveyor arrival or a grasp.
predict: Which single output best supports your claim?
change: Shorten your demonstration to one change and one observation.
run: Use 1 minute preparation, 3 demonstrations of 2 minutes, 3 minutes shared reflection. Both partners speak.
observe: Show saved trace, worksheet or observed supervised step; label simulation, paper or physical.
explain: Name one next test that would increase confidence.
success: All three pairs demonstrate and state a specific limitation.
offline_route: Present the worksheet and paper trace.
extension: Explain how a wrong known color differs from a missing report.
Read your prediction before the result.
A trace supports instruction order, not physical arrival.
Instructor: Keep all three demonstrations within ten minutes. Do not require successful hardware to explain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 activity. These two cards share that one activity duration.
worked_example: Completed SIMULATION sample from the earlier Blockly message exercise: we predicted Ready would appear twice. We changed the repeat count from 1 to 2 around the Ready message. The simulated command log showed Ready twice. This checks message repetition only; it does not prove physical conveyor arrival or a grasp.
predict: Which single output best supports your claim?
change: Shorten your demonstration to one change and one observation.
run: Use 1 minute preparation, 3 demonstrations of 2 minutes, 3 minutes shared reflection. Both partners speak.
observe: Show saved trace, worksheet or observed supervised step; label simulation, paper or physical.
explain: Name one next test that would increase confidence.
success: All three pairs demonstrate and state a specific limitation.
offline_route: Present the worksheet and paper trace.
extension: Explain how a wrong known color differs from a missing report.
Read your prediction before the result.
A trace supports instruction order, not physical arrival.
Instructor: Keep all three demonstrations within ten minutes. Do not require successful hardware to explain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Our fixed-fixture factory</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1/8  ·  2 min</a:t>
            </a:r>
            <a:endParaRPr lang="en-US" sz="1200" dirty="0"/>
          </a:p>
        </p:txBody>
      </p:sp>
      <p:pic>
        <p:nvPicPr>
          <p:cNvPr id="5" name="Image 0" descr="station-current.png">    </p:cNvPr>
          <p:cNvPicPr>
            <a:picLocks noChangeAspect="1"/>
          </p:cNvPicPr>
          <p:nvPr/>
        </p:nvPicPr>
        <p:blipFill>
          <a:blip r:embed="rId1"/>
          <a:stretch>
            <a:fillRect/>
          </a:stretch>
        </p:blipFill>
        <p:spPr>
          <a:xfrm>
            <a:off x="548640" y="1345883"/>
            <a:ext cx="7406640" cy="4166235"/>
          </a:xfrm>
          <a:prstGeom prst="rect">
            <a:avLst/>
          </a:prstGeom>
        </p:spPr>
      </p:pic>
      <p:sp>
        <p:nvSpPr>
          <p:cNvPr id="6" name="Text 2"/>
          <p:cNvSpPr/>
          <p:nvPr/>
        </p:nvSpPr>
        <p:spPr>
          <a:xfrm>
            <a:off x="8275320" y="1645920"/>
            <a:ext cx="3246120" cy="777240"/>
          </a:xfrm>
          <a:prstGeom prst="rect">
            <a:avLst/>
          </a:prstGeom>
          <a:noFill/>
          <a:ln/>
        </p:spPr>
        <p:txBody>
          <a:bodyPr wrap="square" lIns="0" tIns="0" rIns="0" bIns="0" rtlCol="0" anchor="ctr"/>
          <a:lstStyle/>
          <a:p>
            <a:pPr indent="0" marL="0">
              <a:buNone/>
            </a:pPr>
            <a:r>
              <a:rPr lang="en-US" sz="2500" b="1" dirty="0">
                <a:solidFill>
                  <a:srgbClr val="17354B"/>
                </a:solidFill>
                <a:latin typeface="Liberation Sans" pitchFamily="34" charset="0"/>
                <a:ea typeface="Liberation Sans" pitchFamily="34" charset="-122"/>
                <a:cs typeface="Liberation Sans" pitchFamily="34" charset="-120"/>
              </a:rPr>
              <a:t>Dispense one object</a:t>
            </a:r>
            <a:endParaRPr lang="en-US" sz="2500" dirty="0"/>
          </a:p>
        </p:txBody>
      </p:sp>
      <p:sp>
        <p:nvSpPr>
          <p:cNvPr id="7" name="Text 3"/>
          <p:cNvSpPr/>
          <p:nvPr/>
        </p:nvSpPr>
        <p:spPr>
          <a:xfrm>
            <a:off x="8275320" y="2651760"/>
            <a:ext cx="3246120" cy="77724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Carry it to a stopped pickup fixture</a:t>
            </a:r>
            <a:endParaRPr lang="en-US" sz="2500" dirty="0"/>
          </a:p>
        </p:txBody>
      </p:sp>
      <p:sp>
        <p:nvSpPr>
          <p:cNvPr id="8" name="Text 4"/>
          <p:cNvSpPr/>
          <p:nvPr/>
        </p:nvSpPr>
        <p:spPr>
          <a:xfrm>
            <a:off x="8275320" y="3657600"/>
            <a:ext cx="3246120" cy="77724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Pick, place, release and return</a:t>
            </a:r>
            <a:endParaRPr lang="en-US" sz="2500" dirty="0"/>
          </a:p>
        </p:txBody>
      </p:sp>
      <p:sp>
        <p:nvSpPr>
          <p:cNvPr id="9" name="Text 5"/>
          <p:cNvSpPr/>
          <p:nvPr/>
        </p:nvSpPr>
        <p:spPr>
          <a:xfrm>
            <a:off x="548640" y="5897880"/>
            <a:ext cx="10789920" cy="365760"/>
          </a:xfrm>
          <a:prstGeom prst="rect">
            <a:avLst/>
          </a:prstGeom>
          <a:noFill/>
          <a:ln/>
        </p:spPr>
        <p:txBody>
          <a:bodyPr wrap="square" lIns="0" tIns="0" rIns="0" bIns="0" rtlCol="0" anchor="ctr"/>
          <a:lstStyle/>
          <a:p>
            <a:pPr indent="0" marL="0">
              <a:buNone/>
            </a:pPr>
            <a:r>
              <a:rPr lang="en-US" sz="2000" dirty="0">
                <a:solidFill>
                  <a:srgbClr val="17354B"/>
                </a:solidFill>
                <a:latin typeface="Liberation Sans" pitchFamily="34" charset="0"/>
                <a:ea typeface="Liberation Sans" pitchFamily="34" charset="-122"/>
                <a:cs typeface="Liberation Sans" pitchFamily="34" charset="-120"/>
              </a:rPr>
              <a:t>Actual station photograph · one fixed pickup and one fixed destination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Measure decide act check</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2/8  ·  3 min</a:t>
            </a:r>
            <a:endParaRPr lang="en-US" sz="1200" dirty="0"/>
          </a:p>
        </p:txBody>
      </p:sp>
      <p:pic>
        <p:nvPicPr>
          <p:cNvPr id="5" name="Image 0" descr="arm-current.png">    </p:cNvPr>
          <p:cNvPicPr>
            <a:picLocks noChangeAspect="1"/>
          </p:cNvPicPr>
          <p:nvPr/>
        </p:nvPicPr>
        <p:blipFill>
          <a:blip r:embed="rId1"/>
          <a:stretch>
            <a:fillRect/>
          </a:stretch>
        </p:blipFill>
        <p:spPr>
          <a:xfrm>
            <a:off x="1409928" y="1417320"/>
            <a:ext cx="3306624" cy="4526280"/>
          </a:xfrm>
          <a:prstGeom prst="rect">
            <a:avLst/>
          </a:prstGeom>
        </p:spPr>
      </p:pic>
      <p:sp>
        <p:nvSpPr>
          <p:cNvPr id="6" name="Shape 2"/>
          <p:cNvSpPr/>
          <p:nvPr/>
        </p:nvSpPr>
        <p:spPr>
          <a:xfrm>
            <a:off x="6400800" y="1508760"/>
            <a:ext cx="5074920" cy="658368"/>
          </a:xfrm>
          <a:prstGeom prst="rect">
            <a:avLst/>
          </a:prstGeom>
          <a:solidFill>
            <a:srgbClr val="E4EFF0"/>
          </a:solidFill>
          <a:ln w="12700">
            <a:solidFill>
              <a:srgbClr val="E4EFF0">
                <a:alpha val="0"/>
              </a:srgbClr>
            </a:solidFill>
            <a:prstDash val="solid"/>
          </a:ln>
        </p:spPr>
      </p:sp>
      <p:sp>
        <p:nvSpPr>
          <p:cNvPr id="7" name="Text 3"/>
          <p:cNvSpPr/>
          <p:nvPr/>
        </p:nvSpPr>
        <p:spPr>
          <a:xfrm>
            <a:off x="6629400" y="1581912"/>
            <a:ext cx="4617720" cy="50292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Sensor measures</a:t>
            </a:r>
            <a:endParaRPr lang="en-US" sz="2800" dirty="0"/>
          </a:p>
        </p:txBody>
      </p:sp>
      <p:sp>
        <p:nvSpPr>
          <p:cNvPr id="8" name="Shape 4"/>
          <p:cNvSpPr/>
          <p:nvPr/>
        </p:nvSpPr>
        <p:spPr>
          <a:xfrm>
            <a:off x="8915400" y="2194560"/>
            <a:ext cx="0" cy="274320"/>
          </a:xfrm>
          <a:prstGeom prst="line">
            <a:avLst/>
          </a:prstGeom>
          <a:noFill/>
          <a:ln w="25400">
            <a:solidFill>
              <a:srgbClr val="197F80"/>
            </a:solidFill>
            <a:prstDash val="solid"/>
            <a:tailEnd type="triangle"/>
          </a:ln>
        </p:spPr>
      </p:sp>
      <p:sp>
        <p:nvSpPr>
          <p:cNvPr id="9" name="Shape 5"/>
          <p:cNvSpPr/>
          <p:nvPr/>
        </p:nvSpPr>
        <p:spPr>
          <a:xfrm>
            <a:off x="6400800" y="2532888"/>
            <a:ext cx="5074920" cy="658368"/>
          </a:xfrm>
          <a:prstGeom prst="rect">
            <a:avLst/>
          </a:prstGeom>
          <a:solidFill>
            <a:srgbClr val="E4EFF0"/>
          </a:solidFill>
          <a:ln w="12700">
            <a:solidFill>
              <a:srgbClr val="E4EFF0">
                <a:alpha val="0"/>
              </a:srgbClr>
            </a:solidFill>
            <a:prstDash val="solid"/>
          </a:ln>
        </p:spPr>
      </p:sp>
      <p:sp>
        <p:nvSpPr>
          <p:cNvPr id="10" name="Text 6"/>
          <p:cNvSpPr/>
          <p:nvPr/>
        </p:nvSpPr>
        <p:spPr>
          <a:xfrm>
            <a:off x="6629400" y="2606040"/>
            <a:ext cx="4617720" cy="50292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Program decides</a:t>
            </a:r>
            <a:endParaRPr lang="en-US" sz="2800" dirty="0"/>
          </a:p>
        </p:txBody>
      </p:sp>
      <p:sp>
        <p:nvSpPr>
          <p:cNvPr id="11" name="Shape 7"/>
          <p:cNvSpPr/>
          <p:nvPr/>
        </p:nvSpPr>
        <p:spPr>
          <a:xfrm>
            <a:off x="8915400" y="3218688"/>
            <a:ext cx="0" cy="274320"/>
          </a:xfrm>
          <a:prstGeom prst="line">
            <a:avLst/>
          </a:prstGeom>
          <a:noFill/>
          <a:ln w="25400">
            <a:solidFill>
              <a:srgbClr val="197F80"/>
            </a:solidFill>
            <a:prstDash val="solid"/>
            <a:tailEnd type="triangle"/>
          </a:ln>
        </p:spPr>
      </p:sp>
      <p:sp>
        <p:nvSpPr>
          <p:cNvPr id="12" name="Shape 8"/>
          <p:cNvSpPr/>
          <p:nvPr/>
        </p:nvSpPr>
        <p:spPr>
          <a:xfrm>
            <a:off x="6400800" y="3557016"/>
            <a:ext cx="5074920" cy="658368"/>
          </a:xfrm>
          <a:prstGeom prst="rect">
            <a:avLst/>
          </a:prstGeom>
          <a:solidFill>
            <a:srgbClr val="E4EFF0"/>
          </a:solidFill>
          <a:ln w="12700">
            <a:solidFill>
              <a:srgbClr val="E4EFF0">
                <a:alpha val="0"/>
              </a:srgbClr>
            </a:solidFill>
            <a:prstDash val="solid"/>
          </a:ln>
        </p:spPr>
      </p:sp>
      <p:sp>
        <p:nvSpPr>
          <p:cNvPr id="13" name="Text 9"/>
          <p:cNvSpPr/>
          <p:nvPr/>
        </p:nvSpPr>
        <p:spPr>
          <a:xfrm>
            <a:off x="6629400" y="3630168"/>
            <a:ext cx="4617720" cy="50292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Actuator moves</a:t>
            </a:r>
            <a:endParaRPr lang="en-US" sz="2800" dirty="0"/>
          </a:p>
        </p:txBody>
      </p:sp>
      <p:sp>
        <p:nvSpPr>
          <p:cNvPr id="14" name="Shape 10"/>
          <p:cNvSpPr/>
          <p:nvPr/>
        </p:nvSpPr>
        <p:spPr>
          <a:xfrm>
            <a:off x="8915400" y="4242816"/>
            <a:ext cx="0" cy="274320"/>
          </a:xfrm>
          <a:prstGeom prst="line">
            <a:avLst/>
          </a:prstGeom>
          <a:noFill/>
          <a:ln w="25400">
            <a:solidFill>
              <a:srgbClr val="197F80"/>
            </a:solidFill>
            <a:prstDash val="solid"/>
            <a:tailEnd type="triangle"/>
          </a:ln>
        </p:spPr>
      </p:sp>
      <p:sp>
        <p:nvSpPr>
          <p:cNvPr id="15" name="Shape 11"/>
          <p:cNvSpPr/>
          <p:nvPr/>
        </p:nvSpPr>
        <p:spPr>
          <a:xfrm>
            <a:off x="6400800" y="4581144"/>
            <a:ext cx="5074920" cy="658368"/>
          </a:xfrm>
          <a:prstGeom prst="rect">
            <a:avLst/>
          </a:prstGeom>
          <a:solidFill>
            <a:srgbClr val="E4EFF0"/>
          </a:solidFill>
          <a:ln w="12700">
            <a:solidFill>
              <a:srgbClr val="E4EFF0">
                <a:alpha val="0"/>
              </a:srgbClr>
            </a:solidFill>
            <a:prstDash val="solid"/>
          </a:ln>
        </p:spPr>
      </p:sp>
      <p:sp>
        <p:nvSpPr>
          <p:cNvPr id="16" name="Text 12"/>
          <p:cNvSpPr/>
          <p:nvPr/>
        </p:nvSpPr>
        <p:spPr>
          <a:xfrm>
            <a:off x="6629400" y="4654296"/>
            <a:ext cx="4617720" cy="50292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Inspection checks the result</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Robot and screen twin</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3/8  ·  3 min</a:t>
            </a:r>
            <a:endParaRPr lang="en-US" sz="1200" dirty="0"/>
          </a:p>
        </p:txBody>
      </p:sp>
      <p:pic>
        <p:nvPicPr>
          <p:cNvPr id="5" name="Image 0" descr="digital-twin-view.png">    </p:cNvPr>
          <p:cNvPicPr>
            <a:picLocks noChangeAspect="1"/>
          </p:cNvPicPr>
          <p:nvPr/>
        </p:nvPicPr>
        <p:blipFill>
          <a:blip r:embed="rId1"/>
          <a:stretch>
            <a:fillRect/>
          </a:stretch>
        </p:blipFill>
        <p:spPr>
          <a:xfrm>
            <a:off x="594360" y="1556454"/>
            <a:ext cx="5760720" cy="4248013"/>
          </a:xfrm>
          <a:prstGeom prst="rect">
            <a:avLst/>
          </a:prstGeom>
        </p:spPr>
      </p:pic>
      <p:sp>
        <p:nvSpPr>
          <p:cNvPr id="6" name="Text 2"/>
          <p:cNvSpPr/>
          <p:nvPr/>
        </p:nvSpPr>
        <p:spPr>
          <a:xfrm>
            <a:off x="6766560" y="1600200"/>
            <a:ext cx="4709160" cy="82296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Leader: handle</a:t>
            </a:r>
            <a:endParaRPr lang="en-US" sz="2800" dirty="0"/>
          </a:p>
        </p:txBody>
      </p:sp>
      <p:sp>
        <p:nvSpPr>
          <p:cNvPr id="7" name="Text 3"/>
          <p:cNvSpPr/>
          <p:nvPr/>
        </p:nvSpPr>
        <p:spPr>
          <a:xfrm>
            <a:off x="6766560" y="303276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Follower: physical arm</a:t>
            </a:r>
            <a:endParaRPr lang="en-US" sz="2800" dirty="0"/>
          </a:p>
        </p:txBody>
      </p:sp>
      <p:sp>
        <p:nvSpPr>
          <p:cNvPr id="8" name="Text 4"/>
          <p:cNvSpPr/>
          <p:nvPr/>
        </p:nvSpPr>
        <p:spPr>
          <a:xfrm>
            <a:off x="6766560" y="446532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Twin: screen model</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Put the steps in order</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4/8  ·  3 min</a:t>
            </a:r>
            <a:endParaRPr lang="en-US" sz="1200" dirty="0"/>
          </a:p>
        </p:txBody>
      </p:sp>
      <p:sp>
        <p:nvSpPr>
          <p:cNvPr id="5" name="Shape 2"/>
          <p:cNvSpPr/>
          <p:nvPr/>
        </p:nvSpPr>
        <p:spPr>
          <a:xfrm>
            <a:off x="731520" y="1417320"/>
            <a:ext cx="9875520" cy="594360"/>
          </a:xfrm>
          <a:prstGeom prst="rect">
            <a:avLst/>
          </a:prstGeom>
          <a:solidFill>
            <a:srgbClr val="EDF3F5"/>
          </a:solidFill>
          <a:ln w="12700">
            <a:solidFill>
              <a:srgbClr val="EDF3F5">
                <a:alpha val="0"/>
              </a:srgbClr>
            </a:solidFill>
            <a:prstDash val="solid"/>
          </a:ln>
        </p:spPr>
      </p:sp>
      <p:sp>
        <p:nvSpPr>
          <p:cNvPr id="6" name="Text 3"/>
          <p:cNvSpPr/>
          <p:nvPr/>
        </p:nvSpPr>
        <p:spPr>
          <a:xfrm>
            <a:off x="960120" y="1463040"/>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1   Dispense</a:t>
            </a:r>
            <a:endParaRPr lang="en-US" sz="2800" dirty="0"/>
          </a:p>
        </p:txBody>
      </p:sp>
      <p:sp>
        <p:nvSpPr>
          <p:cNvPr id="7" name="Shape 4"/>
          <p:cNvSpPr/>
          <p:nvPr/>
        </p:nvSpPr>
        <p:spPr>
          <a:xfrm>
            <a:off x="5577840" y="2029968"/>
            <a:ext cx="0" cy="219456"/>
          </a:xfrm>
          <a:prstGeom prst="line">
            <a:avLst/>
          </a:prstGeom>
          <a:noFill/>
          <a:ln w="25400">
            <a:solidFill>
              <a:srgbClr val="197F80"/>
            </a:solidFill>
            <a:prstDash val="solid"/>
            <a:tailEnd type="triangle"/>
          </a:ln>
        </p:spPr>
      </p:sp>
      <p:sp>
        <p:nvSpPr>
          <p:cNvPr id="8" name="Shape 5"/>
          <p:cNvSpPr/>
          <p:nvPr/>
        </p:nvSpPr>
        <p:spPr>
          <a:xfrm>
            <a:off x="731520" y="2276856"/>
            <a:ext cx="9875520" cy="594360"/>
          </a:xfrm>
          <a:prstGeom prst="rect">
            <a:avLst/>
          </a:prstGeom>
          <a:solidFill>
            <a:srgbClr val="E4EFF0"/>
          </a:solidFill>
          <a:ln w="12700">
            <a:solidFill>
              <a:srgbClr val="E4EFF0">
                <a:alpha val="0"/>
              </a:srgbClr>
            </a:solidFill>
            <a:prstDash val="solid"/>
          </a:ln>
        </p:spPr>
      </p:sp>
      <p:sp>
        <p:nvSpPr>
          <p:cNvPr id="9" name="Text 6"/>
          <p:cNvSpPr/>
          <p:nvPr/>
        </p:nvSpPr>
        <p:spPr>
          <a:xfrm>
            <a:off x="960120" y="2322576"/>
            <a:ext cx="9418320" cy="45720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2   Conveyor to fixture and stop</a:t>
            </a:r>
            <a:endParaRPr lang="en-US" sz="2800" dirty="0"/>
          </a:p>
        </p:txBody>
      </p:sp>
      <p:sp>
        <p:nvSpPr>
          <p:cNvPr id="10" name="Shape 7"/>
          <p:cNvSpPr/>
          <p:nvPr/>
        </p:nvSpPr>
        <p:spPr>
          <a:xfrm>
            <a:off x="5577840" y="2889504"/>
            <a:ext cx="0" cy="219456"/>
          </a:xfrm>
          <a:prstGeom prst="line">
            <a:avLst/>
          </a:prstGeom>
          <a:noFill/>
          <a:ln w="25400">
            <a:solidFill>
              <a:srgbClr val="197F80"/>
            </a:solidFill>
            <a:prstDash val="solid"/>
            <a:tailEnd type="triangle"/>
          </a:ln>
        </p:spPr>
      </p:sp>
      <p:sp>
        <p:nvSpPr>
          <p:cNvPr id="11" name="Shape 8"/>
          <p:cNvSpPr/>
          <p:nvPr/>
        </p:nvSpPr>
        <p:spPr>
          <a:xfrm>
            <a:off x="731520" y="3136392"/>
            <a:ext cx="9875520" cy="594360"/>
          </a:xfrm>
          <a:prstGeom prst="rect">
            <a:avLst/>
          </a:prstGeom>
          <a:solidFill>
            <a:srgbClr val="EDF3F5"/>
          </a:solidFill>
          <a:ln w="12700">
            <a:solidFill>
              <a:srgbClr val="EDF3F5">
                <a:alpha val="0"/>
              </a:srgbClr>
            </a:solidFill>
            <a:prstDash val="solid"/>
          </a:ln>
        </p:spPr>
      </p:sp>
      <p:sp>
        <p:nvSpPr>
          <p:cNvPr id="12" name="Text 9"/>
          <p:cNvSpPr/>
          <p:nvPr/>
        </p:nvSpPr>
        <p:spPr>
          <a:xfrm>
            <a:off x="960120" y="3182112"/>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3   Approach and grasp</a:t>
            </a:r>
            <a:endParaRPr lang="en-US" sz="2800" dirty="0"/>
          </a:p>
        </p:txBody>
      </p:sp>
      <p:sp>
        <p:nvSpPr>
          <p:cNvPr id="13" name="Shape 10"/>
          <p:cNvSpPr/>
          <p:nvPr/>
        </p:nvSpPr>
        <p:spPr>
          <a:xfrm>
            <a:off x="5577840" y="3749040"/>
            <a:ext cx="0" cy="219456"/>
          </a:xfrm>
          <a:prstGeom prst="line">
            <a:avLst/>
          </a:prstGeom>
          <a:noFill/>
          <a:ln w="25400">
            <a:solidFill>
              <a:srgbClr val="197F80"/>
            </a:solidFill>
            <a:prstDash val="solid"/>
            <a:tailEnd type="triangle"/>
          </a:ln>
        </p:spPr>
      </p:sp>
      <p:sp>
        <p:nvSpPr>
          <p:cNvPr id="14" name="Shape 11"/>
          <p:cNvSpPr/>
          <p:nvPr/>
        </p:nvSpPr>
        <p:spPr>
          <a:xfrm>
            <a:off x="731520" y="3995928"/>
            <a:ext cx="9875520" cy="594360"/>
          </a:xfrm>
          <a:prstGeom prst="rect">
            <a:avLst/>
          </a:prstGeom>
          <a:solidFill>
            <a:srgbClr val="E4EFF0"/>
          </a:solidFill>
          <a:ln w="12700">
            <a:solidFill>
              <a:srgbClr val="E4EFF0">
                <a:alpha val="0"/>
              </a:srgbClr>
            </a:solidFill>
            <a:prstDash val="solid"/>
          </a:ln>
        </p:spPr>
      </p:sp>
      <p:sp>
        <p:nvSpPr>
          <p:cNvPr id="15" name="Text 12"/>
          <p:cNvSpPr/>
          <p:nvPr/>
        </p:nvSpPr>
        <p:spPr>
          <a:xfrm>
            <a:off x="960120" y="4041648"/>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4   Lift and place</a:t>
            </a:r>
            <a:endParaRPr lang="en-US" sz="2800" dirty="0"/>
          </a:p>
        </p:txBody>
      </p:sp>
      <p:sp>
        <p:nvSpPr>
          <p:cNvPr id="16" name="Shape 13"/>
          <p:cNvSpPr/>
          <p:nvPr/>
        </p:nvSpPr>
        <p:spPr>
          <a:xfrm>
            <a:off x="5577840" y="4608576"/>
            <a:ext cx="0" cy="219456"/>
          </a:xfrm>
          <a:prstGeom prst="line">
            <a:avLst/>
          </a:prstGeom>
          <a:noFill/>
          <a:ln w="25400">
            <a:solidFill>
              <a:srgbClr val="197F80"/>
            </a:solidFill>
            <a:prstDash val="solid"/>
            <a:tailEnd type="triangle"/>
          </a:ln>
        </p:spPr>
      </p:sp>
      <p:sp>
        <p:nvSpPr>
          <p:cNvPr id="17" name="Shape 14"/>
          <p:cNvSpPr/>
          <p:nvPr/>
        </p:nvSpPr>
        <p:spPr>
          <a:xfrm>
            <a:off x="731520" y="4855464"/>
            <a:ext cx="9875520" cy="594360"/>
          </a:xfrm>
          <a:prstGeom prst="rect">
            <a:avLst/>
          </a:prstGeom>
          <a:solidFill>
            <a:srgbClr val="EDF3F5"/>
          </a:solidFill>
          <a:ln w="12700">
            <a:solidFill>
              <a:srgbClr val="EDF3F5">
                <a:alpha val="0"/>
              </a:srgbClr>
            </a:solidFill>
            <a:prstDash val="solid"/>
          </a:ln>
        </p:spPr>
      </p:sp>
      <p:sp>
        <p:nvSpPr>
          <p:cNvPr id="18" name="Text 15"/>
          <p:cNvSpPr/>
          <p:nvPr/>
        </p:nvSpPr>
        <p:spPr>
          <a:xfrm>
            <a:off x="960120" y="4901184"/>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5   Release and return</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An observation can be wrong</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5/8  ·  2 min</a:t>
            </a:r>
            <a:endParaRPr lang="en-US" sz="1200" dirty="0"/>
          </a:p>
        </p:txBody>
      </p:sp>
      <p:pic>
        <p:nvPicPr>
          <p:cNvPr id="5" name="Image 0" descr="brick-red.png">    </p:cNvPr>
          <p:cNvPicPr>
            <a:picLocks noChangeAspect="1"/>
          </p:cNvPicPr>
          <p:nvPr/>
        </p:nvPicPr>
        <p:blipFill>
          <a:blip r:embed="rId1"/>
          <a:stretch>
            <a:fillRect/>
          </a:stretch>
        </p:blipFill>
        <p:spPr>
          <a:xfrm>
            <a:off x="1211580" y="1417320"/>
            <a:ext cx="4526280" cy="4526280"/>
          </a:xfrm>
          <a:prstGeom prst="rect">
            <a:avLst/>
          </a:prstGeom>
        </p:spPr>
      </p:pic>
      <p:sp>
        <p:nvSpPr>
          <p:cNvPr id="6" name="Text 2"/>
          <p:cNvSpPr/>
          <p:nvPr/>
        </p:nvSpPr>
        <p:spPr>
          <a:xfrm>
            <a:off x="6766560" y="1600200"/>
            <a:ext cx="4709160" cy="82296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Actual object: red</a:t>
            </a:r>
            <a:endParaRPr lang="en-US" sz="2800" dirty="0"/>
          </a:p>
        </p:txBody>
      </p:sp>
      <p:sp>
        <p:nvSpPr>
          <p:cNvPr id="7" name="Text 3"/>
          <p:cNvSpPr/>
          <p:nvPr/>
        </p:nvSpPr>
        <p:spPr>
          <a:xfrm>
            <a:off x="6766560" y="3032760"/>
            <a:ext cx="4709160" cy="822960"/>
          </a:xfrm>
          <a:prstGeom prst="rect">
            <a:avLst/>
          </a:prstGeom>
          <a:noFill/>
          <a:ln/>
        </p:spPr>
        <p:txBody>
          <a:bodyPr wrap="square" lIns="0" tIns="0" rIns="0" bIns="0" rtlCol="0" anchor="ctr"/>
          <a:lstStyle/>
          <a:p>
            <a:pPr indent="0" marL="0">
              <a:buNone/>
            </a:pPr>
            <a:r>
              <a:rPr lang="en-US" sz="2800" dirty="0">
                <a:solidFill>
                  <a:srgbClr val="C34C42"/>
                </a:solidFill>
                <a:latin typeface="Liberation Sans" pitchFamily="34" charset="0"/>
                <a:ea typeface="Liberation Sans" pitchFamily="34" charset="-122"/>
                <a:cs typeface="Liberation Sans" pitchFamily="34" charset="-120"/>
              </a:rPr>
              <a:t>Reported label: blue (altered example)</a:t>
            </a:r>
            <a:endParaRPr lang="en-US" sz="2800" dirty="0"/>
          </a:p>
        </p:txBody>
      </p:sp>
      <p:sp>
        <p:nvSpPr>
          <p:cNvPr id="8" name="Text 4"/>
          <p:cNvSpPr/>
          <p:nvPr/>
        </p:nvSpPr>
        <p:spPr>
          <a:xfrm>
            <a:off x="6766560" y="446532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Missing report: pause and inspect</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Blocks run in order</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6/8  ·  2 min</a:t>
            </a:r>
            <a:endParaRPr lang="en-US" sz="1200" dirty="0"/>
          </a:p>
        </p:txBody>
      </p:sp>
      <p:pic>
        <p:nvPicPr>
          <p:cNvPr id="5" name="Image 0" descr="local-blockly-station.png">    </p:cNvPr>
          <p:cNvPicPr>
            <a:picLocks noChangeAspect="1"/>
          </p:cNvPicPr>
          <p:nvPr/>
        </p:nvPicPr>
        <p:blipFill>
          <a:blip r:embed="rId1"/>
          <a:stretch>
            <a:fillRect/>
          </a:stretch>
        </p:blipFill>
        <p:spPr>
          <a:xfrm>
            <a:off x="1665029" y="1325880"/>
            <a:ext cx="6088263" cy="4663440"/>
          </a:xfrm>
          <a:prstGeom prst="rect">
            <a:avLst/>
          </a:prstGeom>
        </p:spPr>
      </p:pic>
      <p:sp>
        <p:nvSpPr>
          <p:cNvPr id="6" name="Text 2"/>
          <p:cNvSpPr/>
          <p:nvPr/>
        </p:nvSpPr>
        <p:spPr>
          <a:xfrm>
            <a:off x="9144000" y="1737360"/>
            <a:ext cx="2468880" cy="86868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Read from the top</a:t>
            </a:r>
            <a:endParaRPr lang="en-US" sz="2500" dirty="0"/>
          </a:p>
        </p:txBody>
      </p:sp>
      <p:sp>
        <p:nvSpPr>
          <p:cNvPr id="7" name="Text 3"/>
          <p:cNvSpPr/>
          <p:nvPr/>
        </p:nvSpPr>
        <p:spPr>
          <a:xfrm>
            <a:off x="9144000" y="2880360"/>
            <a:ext cx="2468880" cy="86868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Repeat the blocks inside</a:t>
            </a:r>
            <a:endParaRPr lang="en-US" sz="2500" dirty="0"/>
          </a:p>
        </p:txBody>
      </p:sp>
      <p:sp>
        <p:nvSpPr>
          <p:cNvPr id="8" name="Text 4"/>
          <p:cNvSpPr/>
          <p:nvPr/>
        </p:nvSpPr>
        <p:spPr>
          <a:xfrm>
            <a:off x="9144000" y="4023360"/>
            <a:ext cx="2468880" cy="868680"/>
          </a:xfrm>
          <a:prstGeom prst="rect">
            <a:avLst/>
          </a:prstGeom>
          <a:noFill/>
          <a:ln/>
        </p:spPr>
        <p:txBody>
          <a:bodyPr wrap="square" lIns="0" tIns="0" rIns="0" bIns="0" rtlCol="0" anchor="ctr"/>
          <a:lstStyle/>
          <a:p>
            <a:pPr indent="0" marL="0">
              <a:buNone/>
            </a:pPr>
            <a:r>
              <a:rPr lang="en-US" sz="2500" b="1" dirty="0">
                <a:solidFill>
                  <a:srgbClr val="17354B"/>
                </a:solidFill>
                <a:latin typeface="Liberation Sans" pitchFamily="34" charset="0"/>
                <a:ea typeface="Liberation Sans" pitchFamily="34" charset="-122"/>
                <a:cs typeface="Liberation Sans" pitchFamily="34" charset="-120"/>
              </a:rPr>
              <a:t>Predict before Run</a:t>
            </a:r>
            <a:endParaRPr lang="en-US" sz="2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Your first Python change</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7/8  ·  3 min</a:t>
            </a:r>
            <a:endParaRPr lang="en-US" sz="1200" dirty="0"/>
          </a:p>
        </p:txBody>
      </p:sp>
      <p:sp>
        <p:nvSpPr>
          <p:cNvPr id="5" name="Shape 2"/>
          <p:cNvSpPr/>
          <p:nvPr/>
        </p:nvSpPr>
        <p:spPr>
          <a:xfrm>
            <a:off x="594360" y="1508760"/>
            <a:ext cx="10972800" cy="3520440"/>
          </a:xfrm>
          <a:prstGeom prst="rect">
            <a:avLst/>
          </a:prstGeom>
          <a:solidFill>
            <a:srgbClr val="17354B"/>
          </a:solidFill>
          <a:ln w="12700">
            <a:solidFill>
              <a:srgbClr val="17354B">
                <a:alpha val="0"/>
              </a:srgbClr>
            </a:solidFill>
            <a:prstDash val="solid"/>
          </a:ln>
        </p:spPr>
      </p:sp>
      <p:sp>
        <p:nvSpPr>
          <p:cNvPr id="6" name="Text 3"/>
          <p:cNvSpPr/>
          <p:nvPr/>
        </p:nvSpPr>
        <p:spPr>
          <a:xfrm>
            <a:off x="914400" y="1847088"/>
            <a:ext cx="10332720" cy="2788920"/>
          </a:xfrm>
          <a:prstGeom prst="rect">
            <a:avLst/>
          </a:prstGeom>
          <a:noFill/>
          <a:ln/>
        </p:spPr>
        <p:txBody>
          <a:bodyPr wrap="square" lIns="0" tIns="0" rIns="0" bIns="0" rtlCol="0" anchor="ctr"/>
          <a:lstStyle/>
          <a:p>
            <a:pPr indent="0" marL="0">
              <a:buNone/>
            </a:pPr>
            <a:r>
              <a:rPr lang="en-US" sz="3400" dirty="0">
                <a:solidFill>
                  <a:srgbClr val="FFFFFF"/>
                </a:solidFill>
                <a:latin typeface="Noto Sans Mono" pitchFamily="34" charset="0"/>
                <a:ea typeface="Noto Sans Mono" pitchFamily="34" charset="-122"/>
                <a:cs typeface="Noto Sans Mono" pitchFamily="34" charset="-120"/>
              </a:rPr>
              <a:t>TEAM = "Pair A"</a:t>
            </a:r>
            <a:endParaRPr lang="en-US" sz="3400" dirty="0"/>
          </a:p>
          <a:p>
            <a:pPr indent="0" marL="0">
              <a:buNone/>
            </a:pPr>
            <a:r>
              <a:rPr lang="en-US" sz="3400" dirty="0">
                <a:solidFill>
                  <a:srgbClr val="FFFFFF"/>
                </a:solidFill>
                <a:latin typeface="Noto Sans Mono" pitchFamily="34" charset="0"/>
                <a:ea typeface="Noto Sans Mono" pitchFamily="34" charset="-122"/>
                <a:cs typeface="Noto Sans Mono" pitchFamily="34" charset="-120"/>
              </a:rPr>
              <a:t>REPEATS = 3</a:t>
            </a:r>
            <a:endParaRPr lang="en-US" sz="3400" dirty="0"/>
          </a:p>
          <a:p>
            <a:pPr indent="0" marL="0">
              <a:buNone/>
            </a:pPr>
            <a:r>
              <a:rPr lang="en-US" sz="3400" dirty="0">
                <a:solidFill>
                  <a:srgbClr val="FFFFFF"/>
                </a:solidFill>
                <a:latin typeface="Noto Sans Mono" pitchFamily="34" charset="0"/>
                <a:ea typeface="Noto Sans Mono" pitchFamily="34" charset="-122"/>
                <a:cs typeface="Noto Sans Mono" pitchFamily="34" charset="-120"/>
              </a:rPr>
              <a:t>print("Hello", TEAM)</a:t>
            </a:r>
            <a:endParaRPr lang="en-US" sz="3400" dirty="0"/>
          </a:p>
          <a:p>
            <a:pPr indent="0" marL="0">
              <a:buNone/>
            </a:pPr>
            <a:r>
              <a:rPr lang="en-US" sz="3400" dirty="0">
                <a:solidFill>
                  <a:srgbClr val="FFFFFF"/>
                </a:solidFill>
                <a:latin typeface="Noto Sans Mono" pitchFamily="34" charset="0"/>
                <a:ea typeface="Noto Sans Mono" pitchFamily="34" charset="-122"/>
                <a:cs typeface="Noto Sans Mono" pitchFamily="34" charset="-120"/>
              </a:rPr>
              <a:t>print("Count", REPEATS)</a:t>
            </a:r>
            <a:endParaRPr lang="en-US" sz="3400" dirty="0"/>
          </a:p>
        </p:txBody>
      </p:sp>
      <p:sp>
        <p:nvSpPr>
          <p:cNvPr id="7" name="Text 4"/>
          <p:cNvSpPr/>
          <p:nvPr/>
        </p:nvSpPr>
        <p:spPr>
          <a:xfrm>
            <a:off x="640080" y="5577840"/>
            <a:ext cx="10698480" cy="548640"/>
          </a:xfrm>
          <a:prstGeom prst="rect">
            <a:avLst/>
          </a:prstGeom>
          <a:noFill/>
          <a:ln/>
        </p:spPr>
        <p:txBody>
          <a:bodyPr wrap="square" lIns="0" tIns="0" rIns="0" bIns="0" rtlCol="0" anchor="ctr"/>
          <a:lstStyle/>
          <a:p>
            <a:pPr indent="0" marL="0">
              <a:buNone/>
            </a:pPr>
            <a:r>
              <a:rPr lang="en-US" sz="2800" b="1" dirty="0">
                <a:solidFill>
                  <a:srgbClr val="197F80"/>
                </a:solidFill>
                <a:latin typeface="Liberation Sans" pitchFamily="34" charset="0"/>
                <a:ea typeface="Liberation Sans" pitchFamily="34" charset="-122"/>
                <a:cs typeface="Liberation Sans" pitchFamily="34" charset="-120"/>
              </a:rPr>
              <a:t>Predict the output, then change one value.</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Teach inspect return replay</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8/8  ·  2 min</a:t>
            </a:r>
            <a:endParaRPr lang="en-US" sz="1200" dirty="0"/>
          </a:p>
        </p:txBody>
      </p:sp>
      <p:pic>
        <p:nvPicPr>
          <p:cNvPr id="5" name="Image 0" descr="leader-current.png">    </p:cNvPr>
          <p:cNvPicPr>
            <a:picLocks noChangeAspect="1"/>
          </p:cNvPicPr>
          <p:nvPr/>
        </p:nvPicPr>
        <p:blipFill>
          <a:blip r:embed="rId1"/>
          <a:stretch>
            <a:fillRect/>
          </a:stretch>
        </p:blipFill>
        <p:spPr>
          <a:xfrm>
            <a:off x="1534886" y="1417320"/>
            <a:ext cx="3879669" cy="4526280"/>
          </a:xfrm>
          <a:prstGeom prst="rect">
            <a:avLst/>
          </a:prstGeom>
        </p:spPr>
      </p:pic>
      <p:sp>
        <p:nvSpPr>
          <p:cNvPr id="6" name="Text 2"/>
          <p:cNvSpPr/>
          <p:nvPr/>
        </p:nvSpPr>
        <p:spPr>
          <a:xfrm>
            <a:off x="6766560" y="1600200"/>
            <a:ext cx="4709160" cy="82296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Teach a short stroke</a:t>
            </a:r>
            <a:endParaRPr lang="en-US" sz="2800" dirty="0"/>
          </a:p>
        </p:txBody>
      </p:sp>
      <p:sp>
        <p:nvSpPr>
          <p:cNvPr id="7" name="Text 3"/>
          <p:cNvSpPr/>
          <p:nvPr/>
        </p:nvSpPr>
        <p:spPr>
          <a:xfrm>
            <a:off x="6766560" y="267462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Inspect and validate</a:t>
            </a:r>
            <a:endParaRPr lang="en-US" sz="2800" dirty="0"/>
          </a:p>
        </p:txBody>
      </p:sp>
      <p:sp>
        <p:nvSpPr>
          <p:cNvPr id="8" name="Text 4"/>
          <p:cNvSpPr/>
          <p:nvPr/>
        </p:nvSpPr>
        <p:spPr>
          <a:xfrm>
            <a:off x="6766560" y="374904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Return to the validated start</a:t>
            </a:r>
            <a:endParaRPr lang="en-US" sz="2800" dirty="0"/>
          </a:p>
        </p:txBody>
      </p:sp>
      <p:sp>
        <p:nvSpPr>
          <p:cNvPr id="9" name="Text 5"/>
          <p:cNvSpPr/>
          <p:nvPr/>
        </p:nvSpPr>
        <p:spPr>
          <a:xfrm>
            <a:off x="6766560" y="482346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Replay separately</a:t>
            </a:r>
            <a:endParaRPr lang="en-US"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Make a short conveyor story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1 · 25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Ready → dispense → belt to pickup → inspect. Simulation is a model.</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instruction runs first? Where should the model stop?</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Ready to your pair name. Repeat one tested message twice.</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Run the local Blockly starter once. Use Reset simulation between experiments.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Make a short conveyor story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1 · 25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Compare command order, model position and repeated messages.</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Why must the conveyor stop before the arm approaches?</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Trace the order, predict repeat count and explain one correction.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Read connected blocks from top to bottom.</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Repeat runs every block inside it.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Try a wrong order in simulation and explain what changed.</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Separate the object from its report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2 · 20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Actual blue + missing report: pause. Actual red + blue report: inspect.</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report is missing? Which disagrees with the actual object?</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report to None; then change a known report to a wrong color.</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Run or trace the three rows. Use the supplied labelled photograph.</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Separate the object from its report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2 · 20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Record actual object and reported label in separate columns.</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Why can a fresh, familiar label still be wrong?</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Identify one missing and one wrong report; choose pause and inspect.</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Compare actual and reported one row at a time.</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A known word is still only a report.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Test green without adding a rule.</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Change a name and a number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3 · 30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TEAM stores text; REPEATS stores a number. Indentation defines the loop.</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What greeting and how many object lines will appear?</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TEAM. Run. Then predict and change REPEATS to 2.</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Save a pair notebook copy; run from the top with Shift+Enter.</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Change a name and a number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3 · 30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Count lines. Compare program.program command rows with the program list in View executable Python.</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edit changed text? Which changed the number of repetitions?</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Both partners make and explain one edit; share the same validated commands.</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Quotes surround text, not the repeat number.</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Keep four spaces before the repeated print.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Change a message in Python and Blockly; compare both traces.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Watch teach inspect return replay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4 · 15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Leader 10°, follower 30°, leader now 15°: relative request 35°.</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Can replay begin from any pose? What if the jaw state changed?</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invented angle after predicting. Instructor owns physical modes.</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Watch: teach, stop recording, inspect, return to validated start, replay.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Watch teach inspect return replay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4 · 15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Identify start, endpoint, jaw state and validation evidence.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Why separate teaching from replay? Why reteach after calibration changes?</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Explain teach → inspect → return → replay, and locate STOP.</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A saved stroke does not plan from every start pose.</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A matching screen does not prove a physical grasp.</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Compare relative 35° with absolute 15°. Invented arithmetic sends no motion.</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Explore three stations</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5 · 45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SIMULATION: changed leader now 10°→15°; predicted and calculated relative 30 + 15 - 10 = 35°. No physical joint was measured.</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Predict one direction, report or instruction order at this station.</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angle, report or message. Swap driver and observer.</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15 minutes: 2 predict, 7 change/run, 4 observe/explain, 2 transition.</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Explore three stations</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5 · 45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Record one observation and label it PAPER, SIMULATION or PHYSICAL.</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part measures, decides or acts? What can your evidence establish?</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Every pair visits all three positions and records prediction plus evidence.</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The twin is a model updated from a stream.</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Use the same short sequence at the offline desk.</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Compare fresh with stale without guessing a missing angle.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Dispense carry pick and place</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6 · 45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Dispense → conveyor/stop → fixed_pick_place. Missing qualification blocks hardware.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Where must the object and arm be before each step? What should stop the run?</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Reorder paper cards. Use the named skill fixed_pick_place in simulation.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Rotate: supervised integration, offline rehearsal, failure/evidence desk.</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Dispense carry pick and place</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6 · 45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Inspect dispense, arrival, grasp, lift, release and return separately.</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measurement supports each step? What remains unverified?</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Explain the full sequence and label synthetic rehearsal versus observed transfer.</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Stop belt; match the validated start and jaw state.</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Missing qualification blocks hardware; ask instructor.</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After fixed-fixture success, discuss separately validated color destinations.</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Find one failure and test a repair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7 · 20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present, missing, present: pause after one inspected simulated object.</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What should happen at the missing middle report?</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Choose one failure and one repair. Reset before the repeat check.</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Reproduce on paper or in simulation. Repair and rerun the same input.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Find one failure and test a repair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7 · 20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Record failure message, stopped state and the repaired trace.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Did the test detect the problem? What could still fail on hardware?</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Show a failed prediction, one repair and a repeated check with limits.</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cause so you can explain its effect.</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One passing run can still hide a wrong known report.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Try three reds and one blue to expose swapped extension rules.</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Show one prediction and result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8 · 10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SIMULATION: repeat count 1→2. Predicted Ready twice; log showed Ready twice. This checks messages, not physical arrival or grasp.</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saved output best supports your claim?</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Choose one change and one observation for the demonstration.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1 minute prepare; 3 × 2-minute pair demos; 3 minutes reflection.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Show one prediction and result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8 · 10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Show the trace or worksheet; label paper, simulation or physical evidence.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What next test would increase confidence?</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All three pairs demonstrate; both partners speak and name a limitation.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Read your prediction before showing the result.</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A trace shows order; arrival needs physical evidence.</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Explain wrong known color versus missing observation.</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eratio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iberatio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first robot factory</dc:title>
  <dc:subject>PptxGenJS Presentation</dc:subject>
  <dc:creator>Exciting Science workshop</dc:creator>
  <cp:lastModifiedBy>Exciting Science workshop</cp:lastModifiedBy>
  <cp:revision>1</cp:revision>
  <dcterms:created xsi:type="dcterms:W3CDTF">2026-10-22T00:00:00Z</dcterms:created>
  <dcterms:modified xsi:type="dcterms:W3CDTF">2026-10-22T00:00:00Z</dcterms:modified>
</cp:coreProperties>
</file>