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minutes
Point to actual equipment. Ask which step needs an observation. Explain fixed pickup/drop is core; colors are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minutes
Define sensor and actuator with the actual station. Learners point to examples. A command acknowledgement is not object arrival.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minutes
Compare leader/follower/twin. A matching screen is not an independent sensor or payload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minutes
Ask what happens if the belt is moving at pickup. Fixed-fixture sequence first. Separate calibrated jaw actions and validated strokes.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minutes
Label the altered report clearly. Discuss lighting, occlusion and missing data. Unknown does not certify free 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minutes
This is a local station screenshot, not an external Maze. Show short log/repeat sequence and STOP. No internet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minutes
Read four lines aloud. Quotes store text; REPEATS stores a number. Ask what changes if TEAM changes. More code follows in practical 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minutes
Swap pair driver/observer. Point to STOP. Physical execution requires the instructor and prepared verified recordings. Begin the first local 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minute activity. These two cards share that one activity duration.
worked_example: Ready → dispense → belt to pickup endpoint → inspect. In simulation each command changes a model; no physical object is verified.
predict: Which message appears first? Where should the object model stop?
change: Change Ready to your pair name. Add repeat 2 around a message, then around one tested short sequence.
run: Open local Blockly simulation; select this mission; run the starter once. Use STOP and Reset before a different test. Save your workspace.
observe: Read the command log and model state. Compare the repeated messages with your prediction.
explain: Why do instruction order and a stopped belt matter before pickup?
success: Your pair can trace the order, predict a repeat count and explain one corrected sequence.
offline_route: Draw each instruction on paper and move a paper object only when its instruction runs.
extension: Try an intentionally wrong order in simulation and explain the result.
Read from the top connection down.
Repeat repeats every block inside it; start with a message.
Instructor: Expected order is message, eject, endpoint, inspect. Repeat does not imply two verified physical placements.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minute activity. These two cards share that one activity duration.
worked_example: Ready → dispense → belt to pickup endpoint → inspect. In simulation each command changes a model; no physical object is verified.
predict: Which message appears first? Where should the object model stop?
change: Change Ready to your pair name. Add repeat 2 around a message, then around one tested short sequence.
run: Open local Blockly simulation; select this mission; run the starter once. Use STOP and Reset before a different test. Save your workspace.
observe: Read the command log and model state. Compare the repeated messages with your prediction.
explain: Why do instruction order and a stopped belt matter before pickup?
success: Your pair can trace the order, predict a repeat count and explain one corrected sequence.
offline_route: Draw each instruction on paper and move a paper object only when its instruction runs.
extension: Try an intentionally wrong order in simulation and explain the result.
Read from the top connection down.
Repeat repeats every block inside it; start with a message.
Instructor: Expected order is message, eject, endpoint, inspect. Repeat does not imply two verified physical placements.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minute activity. These two cards share that one activity duration.
worked_example: An actual blue brick can have a missing report. An actual red brick can be reported blue. Both need inspection.
predict: Which of the three reports is missing? Which disagrees with the labelled object?
change: Change one report to None; then change one known report to a wrong known color.
run: Run the short Python example or trace its three rows on paper. Compare the real labelled photo with a deliberately changed report.
observe: Record actual object, reported label and your decision separately. None means missing, never zero or proof of empty space.
explain: Why can a fresh color label still be wrong? What evidence would justify continuing?
success: You identify one missing and one wrong report and choose pause/inspect for uncertainty.
offline_route: Use the supplied real photo and handwritten report cards; no camera or website is needed.
extension: Test unfamiliar green without adding a rule.
Compare actual and reported columns one row at a time.
A known word is still only a report.
Instructor: Missing is row two; wrong known label row three. Correct words alone do not validate a classifier.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minute activity. These two cards share that one activity duration.
worked_example: An actual blue brick can have a missing report. An actual red brick can be reported blue. Both need inspection.
predict: Which of the three reports is missing? Which disagrees with the labelled object?
change: Change one report to None; then change one known report to a wrong known color.
run: Run the short Python example or trace its three rows on paper. Compare the real labelled photo with a deliberately changed report.
observe: Record actual object, reported label and your decision separately. None means missing, never zero or proof of empty space.
explain: Why can a fresh color label still be wrong? What evidence would justify continuing?
success: You identify one missing and one wrong report and choose pause/inspect for uncertainty.
offline_route: Use the supplied real photo and handwritten report cards; no camera or website is needed.
extension: Test unfamiliar green without adding a rule.
Compare actual and reported columns one row at a time.
A known word is still only a report.
Instructor: Missing is row two; wrong known label row three. Correct words alone do not validate a classifier.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minute activity. These two cards share that one activity duration.
worked_example: TEAM stores text in quotes. REPEATS stores a number. print shows text. The indented line runs once for each number.
predict: What greeting and how many object lines will appear?
change: Change TEAM, predict, run. Then change REPEATS to 2, predict, run. Keep indentation.
run: Open the Student notebook, save a pair copy and run cells from the top with Shift+Enter. Run the shared Program example in simulation.
observe: Count output lines and compare the shared Python program JSON with the Blockly exported JSON.
explain: Which edit changed text? Which changed how often a line ran? What stayed in the same order?
success: Both partners make one edit and explain it; shared commands are validated before execution.
offline_route: Run exercises/01_python.py using the prepared Python or trace it on paper. No package downloads.
extension: Change a wait or message in both Python and Blockly and compare command traces.
Quotes surround text; do not quote the number.
Four spaces keep print inside the loop.
Instructor: Original prints three object lines. Changing REPEATS resets the next run; Program simulation is not hardware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minute activity. These two cards share that one activity duration.
worked_example: TEAM stores text in quotes. REPEATS stores a number. print shows text. The indented line runs once for each number.
predict: What greeting and how many object lines will appear?
change: Change TEAM, predict, run. Then change REPEATS to 2, predict, run. Keep indentation.
run: Open the Student notebook, save a pair copy and run cells from the top with Shift+Enter. Run the shared Program example in simulation.
observe: Count output lines and compare the shared Python program JSON with the Blockly exported JSON.
explain: Which edit changed text? Which changed how often a line ran? What stayed in the same order?
success: Both partners make one edit and explain it; shared commands are validated before execution.
offline_route: Run exercises/01_python.py using the prepared Python or trace it on paper. No package downloads.
extension: Change a wait or message in both Python and Blockly and compare command traces.
Quotes surround text; do not quote the number.
Four spaces keep print inside the loop.
Instructor: Original prints three object lines. Changing REPEATS resets the next run; Program simulation is not hardware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minute activity. These two cards share that one activity duration.
worked_example: Leader 10°, follower 30°, leader now 15° gives relative request 35°. A request and a measured result are different.
predict: Will a replay start safely from any pose? What if the jaw state changed?
change: Ask the instructor to change one invented angle; predict before rerunning. Learners do not change physical modes.
run: Watch instructor: teach a short empty stroke, stop recording, inspect metadata and path, return safely to its validated start, then replay separately.
observe: Name start pose, endpoint, jaw state, identity/calibration and validity evidence. An invented demo recording is never a student-taught physical skill.
explain: Why must teaching and playback be separate runs? Why does a changed robot or calibration require reteaching?
success: You can say teach → inspect/validate → return to start → replay, and point to STOP.
offline_route: Use the invented joint example and paper start/end diagrams. Label evidence DEMO.
extension: Predict a relative versus absolute joint request.
A recording stores movement; it does not plan a safe approach from every pose.
A screen model can match commands while a physical object slips.
Instructor: Relative is 35 and absolute 15. Demonstrate only with prepared supervised hardware; if validation fails use paper and report physical gate incomplete.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minute activity. These two cards share that one activity duration.
worked_example: Leader 10°, follower 30°, leader now 15° gives relative request 35°. A request and a measured result are different.
predict: Will a replay start safely from any pose? What if the jaw state changed?
change: Ask the instructor to change one invented angle; predict before rerunning. Learners do not change physical modes.
run: Watch instructor: teach a short empty stroke, stop recording, inspect metadata and path, return safely to its validated start, then replay separately.
observe: Name start pose, endpoint, jaw state, identity/calibration and validity evidence. An invented demo recording is never a student-taught physical skill.
explain: Why must teaching and playback be separate runs? Why does a changed robot or calibration require reteaching?
success: You can say teach → inspect/validate → return to start → replay, and point to STOP.
offline_route: Use the invented joint example and paper start/end diagrams. Label evidence DEMO.
extension: Predict a relative versus absolute joint request.
A recording stores movement; it does not plan a safe approach from every pose.
A screen model can match commands while a physical object slips.
Instructor: Relative is 35 and absolute 15. Demonstrate only with prepared supervised hardware; if validation fails use paper and report physical gate incomplete.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minute activity. These two cards share that one activity duration.
worked_example: Three pairs rotate through arm/twin observation, conveyor/observation sequencing, and offline Blockly/Python preparation.
predict: At your current station, predict one direction, report or sequence before the instructor or simulator acts.
change: Change only one paper angle, report or message; switch driver and observer halfway.
run: Each slot is 15 minutes: 2 predict, 7 change/run, 4 observe/explain, 2 save and transition. Use the rotation table.
observe: Arm: compare measured joint and twin when available. Conveyor: inspect stopped fixture/report. Offline: compare ordered traces. Label each evidence source.
explain: Which part measures, decides or acts? What can your evidence establish?
success: Every pair completes all three positions with one recorded prediction and evidence statement per position.
offline_route: All three positions have photo, paper and simulation versions; record DEMO/OFFLINE if no measured stream.
extension: Compare a fresh report with a stale one without guessing missing values.
The twin is a model updated from a stream.
Use the same short sequence at the offline table.
Instructor: No three physical robots implied. Instructor controls the arm path; preserve transition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minute activity. These two cards share that one activity duration.
worked_example: Three pairs rotate through arm/twin observation, conveyor/observation sequencing, and offline Blockly/Python preparation.
predict: At your current station, predict one direction, report or sequence before the instructor or simulator acts.
change: Change only one paper angle, report or message; switch driver and observer halfway.
run: Each slot is 15 minutes: 2 predict, 7 change/run, 4 observe/explain, 2 save and transition. Use the rotation table.
observe: Arm: compare measured joint and twin when available. Conveyor: inspect stopped fixture/report. Offline: compare ordered traces. Label each evidence source.
explain: Which part measures, decides or acts? What can your evidence establish?
success: Every pair completes all three positions with one recorded prediction and evidence statement per position.
offline_route: All three positions have photo, paper and simulation versions; record DEMO/OFFLINE if no measured stream.
extension: Compare a fresh report with a stale one without guessing missing values.
The twin is a model updated from a stream.
Use the same short sequence at the offline table.
Instructor: No three physical robots implied. Instructor controls the arm path; preserve transition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minute activity. These two cards share that one activity duration.
worked_example: EV3 dispense → conveyor to pickup fixture and stop → named taught skill fixed_pick_place. That skill binds validated approach/open, calibrated grasp, lift/transfer, release and return phases. Missing or uncommissioned qualification blocks physical execution; simulation labels every transfer synthetic.
predict: Where must the object and arm be before each next step? What should stop the run?
change: First reorder paper cards. In simulation use pick_place_recording named fixed_pick_place and change one message or delay. Physical execution requires instructor-validated phase recordings, measured jaw calibration and the qualification manifest; missing evidence is a blocking result.
run: Rotate: supervised integration, offline trace/rehearsal, failure/evidence desk. Each 15-minute slot includes 2 minutes transition. Run dispense, conveyor/stop and the named fixed_pick_place skill only through the existing shared endpoint. Instructor alone enables a qualified physical run; otherwise complete explicit synthetic simulation.
observe: Record dispense, stopped fixture arrival, grasp, lift, placement/release and return separately. A completed command does not prove object transfer.
explain: Which observation supports each claimed step? Which step remains unverified?
success: Your pair explains the full fixed-fixture sequence and records honest per-step evidence. Physical completion requires observed object transfer; offline completion is labelled rehearsal.
offline_route: Use the same fixed pickup/drop paper layout and named-skill simulation. Its grasp/lift/release outcomes are synthetic assumptions with physical_evidence false. Missing recordings or qualification means physical execution remains incomplete.
extension: After the core succeeds, discuss color-dependent destinations as separately validated taught skills.
Stop the conveyor before the arm approaches.
Start/end poses and jaw state of adjacent taught strokes must agree.
Instructor: Do not substitute demo recordings. Current historical operational notes remain evidence until a new physical rehearsal supersedes them. Never infer payload success from a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minute activity. These two cards share that one activity duration.
worked_example: EV3 dispense → conveyor to pickup fixture and stop → named taught skill fixed_pick_place. That skill binds validated approach/open, calibrated grasp, lift/transfer, release and return phases. Missing or uncommissioned qualification blocks physical execution; simulation labels every transfer synthetic.
predict: Where must the object and arm be before each next step? What should stop the run?
change: First reorder paper cards. In simulation use pick_place_recording named fixed_pick_place and change one message or delay. Physical execution requires instructor-validated phase recordings, measured jaw calibration and the qualification manifest; missing evidence is a blocking result.
run: Rotate: supervised integration, offline trace/rehearsal, failure/evidence desk. Each 15-minute slot includes 2 minutes transition. Run dispense, conveyor/stop and the named fixed_pick_place skill only through the existing shared endpoint. Instructor alone enables a qualified physical run; otherwise complete explicit synthetic simulation.
observe: Record dispense, stopped fixture arrival, grasp, lift, placement/release and return separately. A completed command does not prove object transfer.
explain: Which observation supports each claimed step? Which step remains unverified?
success: Your pair explains the full fixed-fixture sequence and records honest per-step evidence. Physical completion requires observed object transfer; offline completion is labelled rehearsal.
offline_route: Use the same fixed pickup/drop paper layout and named-skill simulation. Its grasp/lift/release outcomes are synthetic assumptions with physical_evidence false. Missing recordings or qualification means physical execution remains incomplete.
extension: After the core succeeds, discuss color-dependent destinations as separately validated taught skills.
Stop the conveyor before the arm approaches.
Start/end poses and jaw state of adjacent taught strokes must agree.
Instructor: Do not substitute demo recordings. Current historical operational notes remain evidence until a new physical rehearsal supersedes them. Never infer payload success from a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minute activity. These two cards share that one activity duration.
worked_example: A missing fixture observation pauses the sequence after one inspected object. Fix the observation path before retrying.
predict: What happens when the middle report is None?
change: Test one failure: missing report, wrong order, missing recording or STOP. Change one cause only and reset.
run: Reproduce in simulation or paper; record expected versus actual. Repair and rerun the same input.
observe: Capture the failure message, stopped state and repaired trace. No physical fault injection by learners.
explain: Did your test detect the problem? What could still fail on hardware?
success: You show a failing prediction, one repair and a repeated check with its limits.
offline_route: All failures can be traced with paper command/report cards.
extension: Use the optional color-routing example with three reds and one blue to expose swapped rules.
Choose one input so cause and effect stay clear.
A successful run alone cannot identify a wrong known report.
Instructor: Missing report stops after one; avoid relaxing admission or faking a report to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minute activity. These two cards share that one activity duration.
worked_example: A missing fixture observation pauses the sequence after one inspected object. Fix the observation path before retrying.
predict: What happens when the middle report is None?
change: Test one failure: missing report, wrong order, missing recording or STOP. Change one cause only and reset.
run: Reproduce in simulation or paper; record expected versus actual. Repair and rerun the same input.
observe: Capture the failure message, stopped state and repaired trace. No physical fault injection by learners.
explain: Did your test detect the problem? What could still fail on hardware?
success: You show a failing prediction, one repair and a repeated check with its limits.
offline_route: All failures can be traced with paper command/report cards.
extension: Use the optional color-routing example with three reds and one blue to expose swapped rules.
Choose one input so cause and effect stay clear.
A successful run alone cannot identify a wrong known report.
Instructor: Missing report stops after one; avoid relaxing admission or faking a report to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minute activity. These two cards share that one activity duration.
worked_example: Pair A shows prediction, one change, observed result and one limit; then pairs B and C follow.
predict: Which single output best supports your claim?
change: Shorten your demonstration to one change and one observation.
run: Use 1 minute preparation, 3 demonstrations of 2 minutes, 3 minutes shared reflection. Both partners speak.
observe: Show saved trace, worksheet or observed supervised step; label simulation, paper or physical.
explain: Name one next test that would increase confidence.
success: All three pairs demonstrate and state a specific limitation.
offline_route: Present the worksheet and paper trace.
extension: Explain how a wrong known color differs from a missing report.
Read your prediction before the result.
A trace supports instruction order, not physical arrival.
Instructor: Keep all three demonstrations within ten minutes. Do not require successful hardware to explain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minute activity. These two cards share that one activity duration.
worked_example: Pair A shows prediction, one change, observed result and one limit; then pairs B and C follow.
predict: Which single output best supports your claim?
change: Shorten your demonstration to one change and one observation.
run: Use 1 minute preparation, 3 demonstrations of 2 minutes, 3 minutes shared reflection. Both partners speak.
observe: Show saved trace, worksheet or observed supervised step; label simulation, paper or physical.
explain: Name one next test that would increase confidence.
success: All three pairs demonstrate and state a specific limitation.
offline_route: Present the worksheet and paper trace.
extension: Explain how a wrong known color differs from a missing report.
Read your prediction before the result.
A trace supports instruction order, not physical arrival.
Instructor: Keep all three demonstrations within ten minutes. Do not require successful hardware to explain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29184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Our fixed-fixture factory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9784080" y="6419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1/8  ·  2 min</a:t>
            </a:r>
            <a:endParaRPr lang="en-US" sz="1200" dirty="0"/>
          </a:p>
        </p:txBody>
      </p:sp>
      <p:pic>
        <p:nvPicPr>
          <p:cNvPr id="5" name="Image 0" descr="station-cur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45883"/>
            <a:ext cx="7406640" cy="41662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75320" y="16459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Dispense one object</a:t>
            </a:r>
            <a:endParaRPr lang="en-US" sz="2500" dirty="0"/>
          </a:p>
        </p:txBody>
      </p:sp>
      <p:sp>
        <p:nvSpPr>
          <p:cNvPr id="7" name="Text 3"/>
          <p:cNvSpPr/>
          <p:nvPr/>
        </p:nvSpPr>
        <p:spPr>
          <a:xfrm>
            <a:off x="8275320" y="26517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Carry it to a stopped pickup fixture</a:t>
            </a:r>
            <a:endParaRPr lang="en-US" sz="2500" dirty="0"/>
          </a:p>
        </p:txBody>
      </p:sp>
      <p:sp>
        <p:nvSpPr>
          <p:cNvPr id="8" name="Text 4"/>
          <p:cNvSpPr/>
          <p:nvPr/>
        </p:nvSpPr>
        <p:spPr>
          <a:xfrm>
            <a:off x="8275320" y="36576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Pick, place, release and return</a:t>
            </a:r>
            <a:endParaRPr lang="en-US" sz="2500" dirty="0"/>
          </a:p>
        </p:txBody>
      </p:sp>
      <p:sp>
        <p:nvSpPr>
          <p:cNvPr id="9" name="Text 5"/>
          <p:cNvSpPr/>
          <p:nvPr/>
        </p:nvSpPr>
        <p:spPr>
          <a:xfrm>
            <a:off x="548640" y="58978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Actual station photograph · one fixed pickup and one fixed destination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29184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Measure decide act check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9784080" y="6419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2/8  ·  3 min</a:t>
            </a:r>
            <a:endParaRPr lang="en-US" sz="1200" dirty="0"/>
          </a:p>
        </p:txBody>
      </p:sp>
      <p:pic>
        <p:nvPicPr>
          <p:cNvPr id="5" name="Image 0" descr="arm-cur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928" y="1417320"/>
            <a:ext cx="3306624" cy="45262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00800" y="1508760"/>
            <a:ext cx="5074920" cy="658368"/>
          </a:xfrm>
          <a:prstGeom prst="rect">
            <a:avLst/>
          </a:prstGeom>
          <a:solidFill>
            <a:srgbClr val="E4EFF0"/>
          </a:solidFill>
          <a:ln w="12700">
            <a:solidFill>
              <a:srgbClr val="E4EFF0">
                <a:alpha val="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629400" y="158191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Sensor measures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8915400" y="2194560"/>
            <a:ext cx="0" cy="274320"/>
          </a:xfrm>
          <a:prstGeom prst="line">
            <a:avLst/>
          </a:prstGeom>
          <a:noFill/>
          <a:ln w="25400">
            <a:solidFill>
              <a:srgbClr val="197F80"/>
            </a:solidFill>
            <a:prstDash val="solid"/>
            <a:tailEnd type="triangle"/>
          </a:ln>
        </p:spPr>
      </p:sp>
      <p:sp>
        <p:nvSpPr>
          <p:cNvPr id="9" name="Shape 5"/>
          <p:cNvSpPr/>
          <p:nvPr/>
        </p:nvSpPr>
        <p:spPr>
          <a:xfrm>
            <a:off x="6400800" y="2532888"/>
            <a:ext cx="5074920" cy="658368"/>
          </a:xfrm>
          <a:prstGeom prst="rect">
            <a:avLst/>
          </a:prstGeom>
          <a:solidFill>
            <a:srgbClr val="E4EFF0"/>
          </a:solidFill>
          <a:ln w="12700">
            <a:solidFill>
              <a:srgbClr val="E4EFF0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629400" y="26060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Program decides</a:t>
            </a:r>
            <a:endParaRPr lang="en-US" sz="2800" dirty="0"/>
          </a:p>
        </p:txBody>
      </p:sp>
      <p:sp>
        <p:nvSpPr>
          <p:cNvPr id="11" name="Shape 7"/>
          <p:cNvSpPr/>
          <p:nvPr/>
        </p:nvSpPr>
        <p:spPr>
          <a:xfrm>
            <a:off x="8915400" y="3218688"/>
            <a:ext cx="0" cy="274320"/>
          </a:xfrm>
          <a:prstGeom prst="line">
            <a:avLst/>
          </a:prstGeom>
          <a:noFill/>
          <a:ln w="25400">
            <a:solidFill>
              <a:srgbClr val="197F80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6400800" y="3557016"/>
            <a:ext cx="5074920" cy="658368"/>
          </a:xfrm>
          <a:prstGeom prst="rect">
            <a:avLst/>
          </a:prstGeom>
          <a:solidFill>
            <a:srgbClr val="E4EFF0"/>
          </a:solidFill>
          <a:ln w="12700">
            <a:solidFill>
              <a:srgbClr val="E4EFF0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629400" y="363016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Actuator moves</a:t>
            </a:r>
            <a:endParaRPr lang="en-US" sz="2800" dirty="0"/>
          </a:p>
        </p:txBody>
      </p:sp>
      <p:sp>
        <p:nvSpPr>
          <p:cNvPr id="14" name="Shape 10"/>
          <p:cNvSpPr/>
          <p:nvPr/>
        </p:nvSpPr>
        <p:spPr>
          <a:xfrm>
            <a:off x="8915400" y="4242816"/>
            <a:ext cx="0" cy="274320"/>
          </a:xfrm>
          <a:prstGeom prst="line">
            <a:avLst/>
          </a:prstGeom>
          <a:noFill/>
          <a:ln w="25400">
            <a:solidFill>
              <a:srgbClr val="197F80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6400800" y="4581144"/>
            <a:ext cx="5074920" cy="658368"/>
          </a:xfrm>
          <a:prstGeom prst="rect">
            <a:avLst/>
          </a:prstGeom>
          <a:solidFill>
            <a:srgbClr val="E4EFF0"/>
          </a:solidFill>
          <a:ln w="12700">
            <a:solidFill>
              <a:srgbClr val="E4EFF0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629400" y="4654296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Inspection checks the result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29184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Robot and screen twin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9784080" y="6419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3/8  ·  3 min</a:t>
            </a:r>
            <a:endParaRPr lang="en-US" sz="1200" dirty="0"/>
          </a:p>
        </p:txBody>
      </p:sp>
      <p:pic>
        <p:nvPicPr>
          <p:cNvPr id="5" name="Image 0" descr="digital-twin-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56454"/>
            <a:ext cx="5760720" cy="424801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766560" y="160020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Leader: handle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766560" y="30327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Follower: physical arm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6766560" y="44653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Twin: screen model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29184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Put the steps in order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9784080" y="6419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4/8  ·  3 min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31520" y="1417320"/>
            <a:ext cx="9875520" cy="594360"/>
          </a:xfrm>
          <a:prstGeom prst="rect">
            <a:avLst/>
          </a:prstGeom>
          <a:solidFill>
            <a:srgbClr val="EDF3F5"/>
          </a:solidFill>
          <a:ln w="12700">
            <a:solidFill>
              <a:srgbClr val="EDF3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14630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   Dispense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577840" y="2029968"/>
            <a:ext cx="0" cy="219456"/>
          </a:xfrm>
          <a:prstGeom prst="line">
            <a:avLst/>
          </a:prstGeom>
          <a:noFill/>
          <a:ln w="25400">
            <a:solidFill>
              <a:srgbClr val="197F80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731520" y="2276856"/>
            <a:ext cx="9875520" cy="594360"/>
          </a:xfrm>
          <a:prstGeom prst="rect">
            <a:avLst/>
          </a:prstGeom>
          <a:solidFill>
            <a:srgbClr val="E4EFF0"/>
          </a:solidFill>
          <a:ln w="12700">
            <a:solidFill>
              <a:srgbClr val="E4EF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2322576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   Conveyor to fixture and stop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5577840" y="2889504"/>
            <a:ext cx="0" cy="219456"/>
          </a:xfrm>
          <a:prstGeom prst="line">
            <a:avLst/>
          </a:prstGeom>
          <a:noFill/>
          <a:ln w="25400">
            <a:solidFill>
              <a:srgbClr val="197F8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731520" y="3136392"/>
            <a:ext cx="9875520" cy="594360"/>
          </a:xfrm>
          <a:prstGeom prst="rect">
            <a:avLst/>
          </a:prstGeom>
          <a:solidFill>
            <a:srgbClr val="EDF3F5"/>
          </a:solidFill>
          <a:ln w="12700">
            <a:solidFill>
              <a:srgbClr val="EDF3F5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318211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   Approach and grasp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5577840" y="3749040"/>
            <a:ext cx="0" cy="219456"/>
          </a:xfrm>
          <a:prstGeom prst="line">
            <a:avLst/>
          </a:prstGeom>
          <a:noFill/>
          <a:ln w="25400">
            <a:solidFill>
              <a:srgbClr val="197F8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731520" y="3995928"/>
            <a:ext cx="9875520" cy="594360"/>
          </a:xfrm>
          <a:prstGeom prst="rect">
            <a:avLst/>
          </a:prstGeom>
          <a:solidFill>
            <a:srgbClr val="E4EFF0"/>
          </a:solidFill>
          <a:ln w="12700">
            <a:solidFill>
              <a:srgbClr val="E4EFF0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0120" y="404164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   Lift and place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5577840" y="4608576"/>
            <a:ext cx="0" cy="219456"/>
          </a:xfrm>
          <a:prstGeom prst="line">
            <a:avLst/>
          </a:prstGeom>
          <a:noFill/>
          <a:ln w="25400">
            <a:solidFill>
              <a:srgbClr val="197F80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731520" y="4855464"/>
            <a:ext cx="9875520" cy="594360"/>
          </a:xfrm>
          <a:prstGeom prst="rect">
            <a:avLst/>
          </a:prstGeom>
          <a:solidFill>
            <a:srgbClr val="EDF3F5"/>
          </a:solidFill>
          <a:ln w="12700">
            <a:solidFill>
              <a:srgbClr val="EDF3F5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0120" y="490118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5   Release and return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29184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An observation can be wrong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9784080" y="6419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5/8  ·  2 min</a:t>
            </a:r>
            <a:endParaRPr lang="en-US" sz="1200" dirty="0"/>
          </a:p>
        </p:txBody>
      </p:sp>
      <p:pic>
        <p:nvPicPr>
          <p:cNvPr id="5" name="Image 0" descr="brick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1417320"/>
            <a:ext cx="4526280" cy="4526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766560" y="160020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Actual object: red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766560" y="30327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34C4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Reported label: blue (altered example)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6766560" y="44653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Missing report: pause and inspect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29184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Blocks run in order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9784080" y="6419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6/8  ·  2 min</a:t>
            </a:r>
            <a:endParaRPr lang="en-US" sz="1200" dirty="0"/>
          </a:p>
        </p:txBody>
      </p:sp>
      <p:pic>
        <p:nvPicPr>
          <p:cNvPr id="5" name="Image 0" descr="local-blockly-st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5029" y="1325880"/>
            <a:ext cx="6088263" cy="46634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0" y="17373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Read from the top</a:t>
            </a:r>
            <a:endParaRPr lang="en-US" sz="2500" dirty="0"/>
          </a:p>
        </p:txBody>
      </p:sp>
      <p:sp>
        <p:nvSpPr>
          <p:cNvPr id="7" name="Text 3"/>
          <p:cNvSpPr/>
          <p:nvPr/>
        </p:nvSpPr>
        <p:spPr>
          <a:xfrm>
            <a:off x="9144000" y="28803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Repeat the blocks inside</a:t>
            </a:r>
            <a:endParaRPr lang="en-US" sz="2500" dirty="0"/>
          </a:p>
        </p:txBody>
      </p:sp>
      <p:sp>
        <p:nvSpPr>
          <p:cNvPr id="8" name="Text 4"/>
          <p:cNvSpPr/>
          <p:nvPr/>
        </p:nvSpPr>
        <p:spPr>
          <a:xfrm>
            <a:off x="9144000" y="40233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Predict before Run</a:t>
            </a:r>
            <a:endParaRPr lang="en-US" sz="2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29184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Your first Python change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9784080" y="6419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7/8  ·  3 min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94360" y="1508760"/>
            <a:ext cx="10972800" cy="3520440"/>
          </a:xfrm>
          <a:prstGeom prst="rect">
            <a:avLst/>
          </a:prstGeom>
          <a:solidFill>
            <a:srgbClr val="17354B"/>
          </a:solidFill>
          <a:ln w="12700">
            <a:solidFill>
              <a:srgbClr val="17354B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1847088"/>
            <a:ext cx="103327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TEAM = "Pair A"</a:t>
            </a:r>
            <a:endParaRPr lang="en-US" sz="3400" dirty="0"/>
          </a:p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REPEATS = 3</a:t>
            </a:r>
            <a:endParaRPr lang="en-US" sz="3400" dirty="0"/>
          </a:p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print("Hello", TEAM)</a:t>
            </a:r>
            <a:endParaRPr lang="en-US" sz="3400" dirty="0"/>
          </a:p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print("Count", REPEATS)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55778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Predict the output, then change one value.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29184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Teach inspect return replay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9784080" y="6419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8/8  ·  2 min</a:t>
            </a:r>
            <a:endParaRPr lang="en-US" sz="1200" dirty="0"/>
          </a:p>
        </p:txBody>
      </p:sp>
      <p:pic>
        <p:nvPicPr>
          <p:cNvPr id="5" name="Image 0" descr="leader-cur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4886" y="1417320"/>
            <a:ext cx="3879669" cy="4526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766560" y="160020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Teach a short stroke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766560" y="26746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Inspect and validate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6766560" y="37490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Return to the validated start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6766560" y="48234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Replay separately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4360" y="2926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Make a short conveyor story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Mission 1 · 25 minutes total · Predict and run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58368" y="16916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Worked example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24912" y="169164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Ready → dispense → belt to pickup → inspect. Simulation is a model.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58368" y="26974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Predict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724912" y="269748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Which instruction runs first? Where should the model stop?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58368" y="37033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Change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724912" y="370332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Change Ready to your pair name. Repeat one tested message twice.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58368" y="4709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Run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724912" y="470916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Run the local Blockly starter once. Reset between experiments.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4360" y="2926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Make a short conveyor story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Mission 1 · 25 minutes total · Check and explain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58368" y="16916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Observe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24912" y="169164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Compare command order, model position and repeated messages.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58368" y="26974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Explain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724912" y="269748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Why must the conveyor stop before the arm approaches?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58368" y="37033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Success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724912" y="370332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Trace the order, predict repeat count and explain one correction.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58368" y="4709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Hints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724912" y="470916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Read connected blocks from top to bottom.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Repeat runs every block inside it.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58368" y="5943600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Optional: Try a wrong order in simulation and explain what changed.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4360" y="2926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Separate the object from its report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Mission 2 · 20 minutes total · Predict and run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58368" y="16916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Worked example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24912" y="169164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Actual blue + missing report: pause. Actual red + blue report: inspect.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58368" y="26974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Predict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724912" y="269748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Which report is missing? Which disagrees with the actual object?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58368" y="37033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Change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724912" y="370332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Change one report to None; then change a known report to a wrong color.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58368" y="4709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Run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724912" y="470916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Run or trace the three rows. Use the supplied labelled photograph.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4360" y="2926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Separate the object from its report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Mission 2 · 20 minutes total · Check and explain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58368" y="16916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Observe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24912" y="169164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Record actual object and reported label in separate columns.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58368" y="26974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Explain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724912" y="269748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Why can a fresh, familiar label still be wrong?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58368" y="37033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Success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724912" y="370332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Identify one missing and one wrong report; choose pause and inspect.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58368" y="4709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Hints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724912" y="470916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Compare actual and reported one row at a time.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known word is still only a report.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58368" y="5943600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Optional: Test green without adding a rule.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4360" y="2926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Change a name and a number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Mission 3 · 30 minutes total · Predict and run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58368" y="16916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Worked example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24912" y="169164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TEAM stores text; REPEATS stores a number. Indentation defines the loop.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58368" y="26974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Predict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724912" y="269748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What greeting and how many object lines will appear?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58368" y="37033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Change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724912" y="370332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Change TEAM. Run. Then predict and change REPEATS to 2.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58368" y="4709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Run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724912" y="470916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Save a pair notebook copy; run from the top with Shift+Enter.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4360" y="2926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Change a name and a number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Mission 3 · 30 minutes total · Check and explain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58368" y="16916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Observe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24912" y="169164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Count lines. Compare Program JSON with the Blockly export.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58368" y="26974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Explain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724912" y="269748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Which edit changed text? Which changed the number of repetitions?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58368" y="37033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Success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724912" y="370332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Both partners make and explain one edit; share the same validated commands.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58368" y="4709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Hints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724912" y="470916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Quotes surround text, not the repeat number.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Keep four spaces before the repeated print.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58368" y="5943600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Optional: Change a message in Python and Blockly; compare both traces.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4360" y="2926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Watch teach inspect return replay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Mission 4 · 15 minutes total · Predict and run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58368" y="16916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Worked example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24912" y="169164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Leader 10°, follower 30°, leader now 15°: relative request 35°.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58368" y="26974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Predict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724912" y="269748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Can replay begin from any pose? What if the jaw state changed?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58368" y="37033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Change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724912" y="370332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Change one invented angle after predicting. Instructor owns physical modes.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58368" y="4709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Run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724912" y="470916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Watch: teach, stop recording, inspect, return to validated start, replay.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4360" y="2926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Watch teach inspect return replay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Mission 4 · 15 minutes total · Check and explain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58368" y="16916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Observe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24912" y="169164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Identify start, endpoint, jaw state and validation evidence.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58368" y="26974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Explain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724912" y="269748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Why separate teaching from replay? Why reteach after calibration changes?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58368" y="37033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Success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724912" y="370332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Explain teach → inspect → return → replay, and locate STOP.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58368" y="4709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Hints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724912" y="470916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saved stroke does not plan from every start pose.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matching screen does not prove a physical grasp.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58368" y="5943600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Optional: Compare relative 35° with absolute 15°. Invented arithmetic sends no motion.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4360" y="2926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Explore three stations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Mission 5 · 45 minutes total · Predict and run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58368" y="16916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Worked example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24912" y="169164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Three pairs: arm/twin; conveyor/observations; offline preparation.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58368" y="26974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Predict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724912" y="269748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Predict one direction, report or instruction order at this station.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58368" y="37033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Change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724912" y="370332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Change one angle, report or message. Swap driver and observer.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58368" y="4709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Run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724912" y="470916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15 minutes: 2 predict, 7 change/run, 4 observe/explain, 2 transition.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4360" y="2926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Explore three stations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Mission 5 · 45 minutes total · Check and explain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58368" y="16916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Observe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24912" y="169164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Record one observation and label it PAPER, SIMULATION or PHYSICAL.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58368" y="26974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Explain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724912" y="269748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Which part measures, decides or acts? What can your evidence establish?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58368" y="37033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Success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724912" y="370332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Every pair visits all three positions and records prediction plus evidence.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58368" y="4709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Hints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724912" y="470916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twin is a model updated from a stream.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Use the same short sequence at the offline desk.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58368" y="5943600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Optional: Compare fresh with stale without guessing a missing angle.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4360" y="2926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Dispense carry pick and place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Mission 6 · 45 minutes total · Predict and run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58368" y="16916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Worked example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24912" y="169164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Dispense → conveyor/stop → fixed_pick_place. Missing qualification blocks hardware.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58368" y="26974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Predict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724912" y="269748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Where must the object and arm be before each step? What should stop the run?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58368" y="37033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Change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724912" y="370332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Reorder paper cards. Use the named skill fixed_pick_place in simulation.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58368" y="4709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Run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724912" y="470916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Rotate: supervised integration, offline rehearsal, failure/evidence desk.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4360" y="2926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Dispense carry pick and place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Mission 6 · 45 minutes total · Check and explain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58368" y="16916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Observe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24912" y="169164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Inspect dispense, arrival, grasp, lift, release and return separately.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58368" y="26974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Explain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724912" y="269748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Which measurement supports each step? What remains unverified?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58368" y="37033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Success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724912" y="370332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Explain the full sequence and label synthetic rehearsal versus observed transfer.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58368" y="4709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Hints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724912" y="470916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Stop belt; match the validated start and jaw state.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Missing qualification blocks hardware; ask instructor.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58368" y="5943600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Optional: After fixed-fixture success, discuss separately validated color destinations.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4360" y="2926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Find one failure and test a repair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Mission 7 · 20 minutes total · Predict and run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58368" y="16916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Worked example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24912" y="169164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present, missing, present: pause after one inspected simulated object.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58368" y="26974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Predict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724912" y="269748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What should happen at the missing middle report?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58368" y="37033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Change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724912" y="370332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Choose one failure and one repair. Reset before the repeat check.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58368" y="4709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Run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724912" y="470916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Reproduce on paper or in simulation. Repair and rerun the same input.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4360" y="2926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Find one failure and test a repair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Mission 7 · 20 minutes total · Check and explain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58368" y="16916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Observe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24912" y="169164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Record failure message, stopped state and the repaired trace.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58368" y="26974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Explain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724912" y="269748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Did the test detect the problem? What could still fail on hardware?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58368" y="37033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Success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724912" y="370332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Show a failed prediction, one repair and a repeated check with limits.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58368" y="4709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Hints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724912" y="470916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Change one cause so you can explain its effect.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 passing run can still hide a wrong known report.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58368" y="5943600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Optional: Try three reds and one blue to expose swapped extension rules.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4360" y="2926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Show one prediction and result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Mission 8 · 10 minutes total · Predict and run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58368" y="16916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Worked example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24912" y="169164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Show prediction, one change, observed result and one limit.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58368" y="26974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Predict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724912" y="269748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Which saved output best supports your claim?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58368" y="37033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Change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724912" y="370332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Choose one change and one observation for the demonstration.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58368" y="4709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Run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724912" y="470916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 minute prepare; 3 × 2-minute pair demos; 3 minutes reflection.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4360" y="2926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Show one prediction and result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Mission 8 · 10 minutes total · Check and explain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58368" y="16916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Observe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24912" y="169164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Show the trace or worksheet; label paper, simulation or physical evidence.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58368" y="26974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Explain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724912" y="269748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What next test would increase confidence?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58368" y="37033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Success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724912" y="370332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All three pairs demonstrate; both partners speak and name a limitation.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58368" y="4709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F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Hints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724912" y="4709160"/>
            <a:ext cx="8732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Read your prediction before showing the result.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trace shows order; arrival needs physical evidence.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58368" y="5943600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735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Optional: Explain wrong known color versus missing observation.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first robot factory</dc:title>
  <dc:subject>PptxGenJS Presentation</dc:subject>
  <dc:creator>Exciting Science workshop</dc:creator>
  <cp:lastModifiedBy>Exciting Science workshop</cp:lastModifiedBy>
  <cp:revision>1</cp:revision>
  <dcterms:created xsi:type="dcterms:W3CDTF">2026-10-22T00:00:00Z</dcterms:created>
  <dcterms:modified xsi:type="dcterms:W3CDTF">2026-10-22T00:00:00Z</dcterms:modified>
</cp:coreProperties>
</file>