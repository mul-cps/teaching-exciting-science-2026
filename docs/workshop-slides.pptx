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Programmiert eure eigene Smart Factory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01</a:t>
            </a:r>
          </a:p>
        </p:txBody>
      </p:sp>
      <p:pic>
        <p:nvPicPr>
          <p:cNvPr id="8" name="Picture 7" descr="factory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352" y="1728216"/>
            <a:ext cx="9284246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Unser Ziel / Today's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1 · SENSE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Camera sees a red or blue token.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9872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0184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2 · 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0184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Python chooses left, right, or reject.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7095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3 ·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Robot moves only when the belt is stopped.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Was macht das System cyber-physisch?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03</a:t>
            </a:r>
          </a:p>
        </p:txBody>
      </p:sp>
      <p:pic>
        <p:nvPicPr>
          <p:cNvPr id="8" name="Picture 7" descr="cps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16762"/>
            <a:ext cx="10762488" cy="3321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Physisch + Digital + Rückmeldung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PHYSICAL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Conveyor, robot, blocks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9872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0184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0184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Python, colors, sorting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7095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Stop, check, then repeat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Sicherheit zuerst / Safety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05</a:t>
            </a:r>
          </a:p>
        </p:txBody>
      </p:sp>
      <p:pic>
        <p:nvPicPr>
          <p:cNvPr id="8" name="Picture 7" descr="safety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651" y="1728216"/>
            <a:ext cx="958964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STATION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A · LeRobot: Vormachen und Nachmachen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06</a:t>
            </a:r>
          </a:p>
        </p:txBody>
      </p:sp>
      <p:pic>
        <p:nvPicPr>
          <p:cNvPr id="8" name="Picture 7" descr="robo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651" y="1728216"/>
            <a:ext cx="958964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STATION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B · Kamera: Einen Gegenstand erkennen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07</a:t>
            </a:r>
          </a:p>
        </p:txBody>
      </p:sp>
      <p:pic>
        <p:nvPicPr>
          <p:cNvPr id="8" name="Picture 7" descr="vision-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651" y="1728216"/>
            <a:ext cx="958964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STATION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C · LEGO EV3: Bewegen und stoppen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08</a:t>
            </a:r>
          </a:p>
        </p:txBody>
      </p:sp>
      <p:pic>
        <p:nvPicPr>
          <p:cNvPr id="8" name="Picture 7" descr="bel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651" y="1728216"/>
            <a:ext cx="958964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Python in drei Minuten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837943"/>
            <a:ext cx="7077456" cy="4041648"/>
          </a:xfrm>
          <a:prstGeom prst="round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21408"/>
            <a:ext cx="6492240" cy="338328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for number in range(3):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print("Hello robot", number + 1)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6136" y="1837943"/>
            <a:ext cx="3621024" cy="4041648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090672" cy="512064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197F80"/>
                </a:solidFill>
                <a:latin typeface="DejaVu Sans"/>
              </a:defRPr>
            </a:pPr>
            <a:r>
              <a:t>Exercise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62072"/>
            <a:ext cx="3035808" cy="260604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Change 3 to 5.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What happens?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Try it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STUDENT ROTATION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Drei Stationen · Three stations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10</a:t>
            </a:r>
          </a:p>
        </p:txBody>
      </p:sp>
      <p:pic>
        <p:nvPicPr>
          <p:cNvPr id="8" name="Picture 7" descr="three-s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250327"/>
            <a:ext cx="10762488" cy="3454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STATION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Station A · Erste Roboterbefehle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837943"/>
            <a:ext cx="7077456" cy="4041648"/>
          </a:xfrm>
          <a:prstGeom prst="round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21408"/>
            <a:ext cx="6492240" cy="338328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from workshop import SimRobot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robot = SimRobot()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robot.sort("left")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robot.sort("right")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print(robot.actions)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6136" y="1837943"/>
            <a:ext cx="3621024" cy="4041648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090672" cy="512064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197F80"/>
                </a:solidFill>
                <a:latin typeface="DejaVu Sans"/>
              </a:defRPr>
            </a:pPr>
            <a:r>
              <a:t>Exercise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62072"/>
            <a:ext cx="3035808" cy="260604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Simulation first.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Try swapping left and right.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Real robot: supervised demo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STATION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Station B · Die Kamera sagt eine Farbe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837943"/>
            <a:ext cx="7077456" cy="4041648"/>
          </a:xfrm>
          <a:prstGeom prst="round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21408"/>
            <a:ext cx="6492240" cy="338328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from workshop import SimCamera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camera = SimCamera(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["red", "blue", "unknown"]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print(camera.detect())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6136" y="1837943"/>
            <a:ext cx="3621024" cy="4041648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090672" cy="512064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197F80"/>
                </a:solidFill>
                <a:latin typeface="DejaVu Sans"/>
              </a:defRPr>
            </a:pPr>
            <a:r>
              <a:t>Exercise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62072"/>
            <a:ext cx="3035808" cy="260604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What if the result is unknown?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Unknown is not blue.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Stop or reject.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STATION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Station C · Das Band sicher stoppen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837943"/>
            <a:ext cx="7077456" cy="4041648"/>
          </a:xfrm>
          <a:prstGeom prst="round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21408"/>
            <a:ext cx="6492240" cy="338328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from workshop import SimBelt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belt = SimBelt()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belt.advance()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belt.stop()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6136" y="1837943"/>
            <a:ext cx="3621024" cy="4041648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090672" cy="512064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197F80"/>
                </a:solidFill>
                <a:latin typeface="DejaVu Sans"/>
              </a:defRPr>
            </a:pPr>
            <a:r>
              <a:t>Simulated belt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62072"/>
            <a:ext cx="3035808" cy="260604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Never reach into a moving belt.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Physical EV3 control still needs an instructor bench test.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Die Entscheidung: links, rechts oder Fehler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14</a:t>
            </a:r>
          </a:p>
        </p:txBody>
      </p:sp>
      <p:pic>
        <p:nvPicPr>
          <p:cNvPr id="8" name="Picture 7" descr="sorting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35107"/>
            <a:ext cx="10762488" cy="42850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Euer Sortierprogramm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837943"/>
            <a:ext cx="7077456" cy="4041648"/>
          </a:xfrm>
          <a:prstGeom prst="roundRect">
            <a:avLst/>
          </a:prstGeom>
          <a:solidFill>
            <a:srgbClr val="E8E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21408"/>
            <a:ext cx="6492240" cy="338328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from workshop import Factory, SimBelt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from workshop import SimCamera, SimRobot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 = Factory(SimBelt(),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SimCamera(), SimRobot())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for _ in range(5):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f.one_cycle({"red": "left",</a:t>
            </a:r>
          </a:p>
          <a:p>
            <a:pPr>
              <a:spcAft>
                <a:spcPts val="500"/>
              </a:spcAft>
              <a:defRPr sz="2000" b="0">
                <a:solidFill>
                  <a:srgbClr val="17354B"/>
                </a:solidFill>
                <a:latin typeface="DejaVu Sans Mono"/>
              </a:defRPr>
            </a:pPr>
            <a:r>
              <a:t>                 "blue": "right"})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6136" y="1837943"/>
            <a:ext cx="3621024" cy="4041648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090672" cy="512064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197F80"/>
                </a:solidFill>
                <a:latin typeface="DejaVu Sans"/>
              </a:defRPr>
            </a:pPr>
            <a:r>
              <a:t>Exercise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62072"/>
            <a:ext cx="3035808" cy="260604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Five cycles.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Red → left.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Blue → right.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Unknown → reject.</a:t>
            </a: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</a:p>
          <a:p>
            <a:pPr>
              <a:spcAft>
                <a:spcPts val="0"/>
              </a:spcAft>
              <a:defRPr sz="2000" b="0">
                <a:solidFill>
                  <a:srgbClr val="17354B"/>
                </a:solidFill>
                <a:latin typeface="DejaVu Sans"/>
              </a:defRPr>
            </a:pPr>
            <a:r>
              <a:t>Change the rules!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Der sichere Ablauf: Stop, erkennen, sortieren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16</a:t>
            </a:r>
          </a:p>
        </p:txBody>
      </p:sp>
      <p:pic>
        <p:nvPicPr>
          <p:cNvPr id="8" name="Picture 7" descr="safe-sort-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160"/>
            <a:ext cx="10762488" cy="393295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Der Testlauf: 5 Objekte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17</a:t>
            </a:r>
          </a:p>
        </p:txBody>
      </p:sp>
      <p:pic>
        <p:nvPicPr>
          <p:cNvPr id="8" name="Picture 7" descr="fiv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061" y="1728216"/>
            <a:ext cx="984882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TRY &amp;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Team-Challenges / Try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EASY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Swap red and blue.</a:t>
            </a:r>
          </a:p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Predict the results.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9872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0184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MEDIUM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0184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Count left / right / reject.</a:t>
            </a:r>
          </a:p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Why five objects?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7095" y="2121408"/>
            <a:ext cx="3532632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414016"/>
            <a:ext cx="3112008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BONUS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3227832"/>
            <a:ext cx="3112008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Test a real webcam if the instructor approves.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Wenn Hardware fehlt: Simulation läuft weiter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19</a:t>
            </a:r>
          </a:p>
        </p:txBody>
      </p:sp>
      <p:pic>
        <p:nvPicPr>
          <p:cNvPr id="8" name="Picture 7" descr="fall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651" y="1728216"/>
            <a:ext cx="9589649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97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058400" cy="27432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197F80"/>
                </a:solidFill>
                <a:latin typeface="DejaVu Sans"/>
              </a:defRPr>
            </a:pPr>
            <a:r>
              <a:t>T17(1)  ·  CYBER-PHYSICAL SYSTEMS  / 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11018520" cy="6858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7354B"/>
                </a:solidFill>
                <a:latin typeface="DejaVu Sans"/>
              </a:defRPr>
            </a:pPr>
            <a:r>
              <a:t>Was nehmt ihr mit? /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99616"/>
            <a:ext cx="11018520" cy="16459"/>
          </a:xfrm>
          <a:prstGeom prst="rect">
            <a:avLst/>
          </a:prstGeom>
          <a:solidFill>
            <a:srgbClr val="CFD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789920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607383"/>
                </a:solidFill>
                <a:latin typeface="DejaVu Sans"/>
              </a:defRPr>
            </a:pPr>
            <a:r>
              <a:t>MONTANUNIVERSITÄT LEOBEN   ·   FIRST-SEMESTER HANDS-ON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46520"/>
            <a:ext cx="512064" cy="228600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900" b="1">
                <a:solidFill>
                  <a:srgbClr val="197F80"/>
                </a:solidFill>
                <a:latin typeface="DejaVu Sans"/>
              </a:defRPr>
            </a:pPr>
            <a: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121408"/>
            <a:ext cx="2608326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14016"/>
            <a:ext cx="2187702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27832"/>
            <a:ext cx="2187702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What does the camera measure?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5566" y="2121408"/>
            <a:ext cx="2608326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5878" y="2414016"/>
            <a:ext cx="2187702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5878" y="3227832"/>
            <a:ext cx="2187702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What rule makes the decision?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8484" y="2121408"/>
            <a:ext cx="2608326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8796" y="2414016"/>
            <a:ext cx="2187702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ACTUATOR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8796" y="3227832"/>
            <a:ext cx="2187702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What actually moves?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1402" y="2121408"/>
            <a:ext cx="2608326" cy="3145536"/>
          </a:xfrm>
          <a:prstGeom prst="roundRect">
            <a:avLst/>
          </a:prstGeom>
          <a:solidFill>
            <a:srgbClr val="E4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1714" y="2414016"/>
            <a:ext cx="2187702" cy="521207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97F80"/>
                </a:solidFill>
                <a:latin typeface="DejaVu Sans"/>
              </a:defRPr>
            </a:pPr>
            <a: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1714" y="3227832"/>
            <a:ext cx="2187702" cy="1755648"/>
          </a:xfrm>
          <a:prstGeom prst="rect">
            <a:avLst/>
          </a:prstGeom>
          <a:noFill/>
        </p:spPr>
        <p:txBody>
          <a:bodyPr wrap="square" lIns="22860" rIns="22860" tIns="13716" bIns="13716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7354B"/>
                </a:solidFill>
                <a:latin typeface="DejaVu Sans"/>
              </a:defRPr>
            </a:pPr>
            <a:r>
              <a:t>What should stop the system?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