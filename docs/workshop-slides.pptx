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Ask: what does a machine need to know before moving a block? Take three answers. Point to sensing, a decision and movement. This is our own teaching schematic, not a photograph of a working sorter. The actual camera model may differ. Autonomous physical sorting is an optional demonstration only after full station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Point to the actual camera, SO-ARM101 robot, LEGO EV3 conveyor and bins. Identify which parts sense and which move. Students use three pairs. All laptops also have an offline simulator. Source: repository tools/make_assets.py, original teaching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minutes. Ask students to describe sorting a block by hand. Camera gives information, Python chooses a route, motors act, feedback checks the result. Ask: how would you know that placement actually worked? A command alone does not prove success. Source: repository original schematic.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Ask which example is red, blue or unknown. Explain that measured color depends on light, background and position. Missing information must produce reject or stop. During activity B compare these schematic examples with a live camera only if it is ready. Source: repository original schematic.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Show one joint and the gripper on the actual stationary arm. Explain that reaching a target and avoiding the table both matter. Demonstrate only prechecked supervised motion. Otherwise use simulated robot actions. Source: repository original schematic.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minutes. Ask for a prediction before running. Explain indentation by pointing to the repeated or conditional lines. The two-way rule here assumes only red and blue. Ask what goes wrong for unknown. Later activities add explicit rejection. Run python exercises/01_python.py. Students need no ROS or hardware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Ask for one camera problem, one wrong-position problem and one unexpected-movement problem. Keep hands outside moving equipment. Only the instructor enables physical motion. Stop and ask when behavior is unexpected. Hardware fallback is the simulator. Source: repository original teaching schematic, not a certified physical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Explain success: correct routes and counts for a known five-object sequence, with unknown rejected. Start exercises/01_python.py, then03_vision.py, supervised rotations,04_sort.py and05_visual_sort.py. For visual results open sorting-result.html after running the script. First two independent challenges are reverse rules and counting. Later options: third color, missing readings, new sequences, reliability improvement. Source: repository original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22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Can a robot run a factory?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01</a:t>
            </a:r>
          </a:p>
        </p:txBody>
      </p:sp>
      <p:pic>
        <p:nvPicPr>
          <p:cNvPr id="8" name="Picture 7" descr="factory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352" y="1728216"/>
            <a:ext cx="9284246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Our miniature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02</a:t>
            </a:r>
          </a:p>
        </p:txBody>
      </p:sp>
      <p:pic>
        <p:nvPicPr>
          <p:cNvPr id="8" name="Picture 7" descr="three-s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250327"/>
            <a:ext cx="10762488" cy="3454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Observe, decide, act,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03</a:t>
            </a:r>
          </a:p>
        </p:txBody>
      </p:sp>
      <p:pic>
        <p:nvPicPr>
          <p:cNvPr id="8" name="Picture 7" descr="cp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16762"/>
            <a:ext cx="10762488" cy="3321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A camera sees pixels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04</a:t>
            </a:r>
          </a:p>
        </p:txBody>
      </p:sp>
      <p:pic>
        <p:nvPicPr>
          <p:cNvPr id="8" name="Picture 7" descr="vision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3" y="1728216"/>
            <a:ext cx="10150604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Robot joints and gripper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05</a:t>
            </a:r>
          </a:p>
        </p:txBody>
      </p:sp>
      <p:pic>
        <p:nvPicPr>
          <p:cNvPr id="8" name="Picture 7" descr="rob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You can program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for number in range(3):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print("Hello robot", number + 1)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color = "red"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if color == "red":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print("Move left")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else: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print("Move right")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Try a small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Predict the output.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Change 3 to 5.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Swap left and right.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What can go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07</a:t>
            </a:r>
          </a:p>
        </p:txBody>
      </p:sp>
      <p:pic>
        <p:nvPicPr>
          <p:cNvPr id="8" name="Picture 7" descr="safety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OUR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Your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08</a:t>
            </a:r>
          </a:p>
        </p:txBody>
      </p:sp>
      <p:pic>
        <p:nvPicPr>
          <p:cNvPr id="8" name="Picture 7" descr="fiv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63139"/>
            <a:ext cx="740664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057400"/>
            <a:ext cx="3291840" cy="21031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400" b="1">
                <a:solidFill>
                  <a:srgbClr val="17354B"/>
                </a:solidFill>
                <a:latin typeface="DejaVu Sans"/>
              </a:defRPr>
            </a:pPr>
            <a:r>
              <a:t>Change a rule.</a:t>
            </a:r>
          </a:p>
          <a:p>
            <a:pPr>
              <a:spcAft>
                <a:spcPts val="0"/>
              </a:spcAft>
              <a:defRPr sz="2400" b="1">
                <a:solidFill>
                  <a:srgbClr val="17354B"/>
                </a:solidFill>
                <a:latin typeface="DejaVu Sans"/>
              </a:defRPr>
            </a:pPr>
            <a:r>
              <a:t>Test five objects.</a:t>
            </a:r>
          </a:p>
          <a:p>
            <a:pPr>
              <a:spcAft>
                <a:spcPts val="0"/>
              </a:spcAft>
              <a:defRPr sz="2400" b="1">
                <a:solidFill>
                  <a:srgbClr val="17354B"/>
                </a:solidFill>
                <a:latin typeface="DejaVu Sans"/>
              </a:defRPr>
            </a:pPr>
            <a:r>
              <a:t>Reject unknown.</a:t>
            </a:r>
          </a:p>
          <a:p>
            <a:pPr>
              <a:spcAft>
                <a:spcPts val="0"/>
              </a:spcAft>
              <a:defRPr sz="2400" b="1">
                <a:solidFill>
                  <a:srgbClr val="17354B"/>
                </a:solidFill>
                <a:latin typeface="DejaVu Sans"/>
              </a:defRPr>
            </a:pPr>
            <a:r>
              <a:t>Explain your result.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617720"/>
            <a:ext cx="3291840" cy="1097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97F80"/>
                </a:solidFill>
                <a:latin typeface="DejaVu Sans"/>
              </a:defRPr>
            </a:pPr>
            <a:r>
              <a:t>Work in pairs.</a:t>
            </a:r>
          </a:p>
          <a:p>
            <a:pPr>
              <a:spcAft>
                <a:spcPts val="0"/>
              </a:spcAft>
              <a:defRPr sz="1900" b="0">
                <a:solidFill>
                  <a:srgbClr val="197F80"/>
                </a:solidFill>
                <a:latin typeface="DejaVu Sans"/>
              </a:defRPr>
            </a:pPr>
            <a:r>
              <a:t>One predicts, one types.</a:t>
            </a:r>
          </a:p>
          <a:p>
            <a:pPr>
              <a:spcAft>
                <a:spcPts val="0"/>
              </a:spcAft>
              <a:defRPr sz="1900" b="0">
                <a:solidFill>
                  <a:srgbClr val="197F80"/>
                </a:solidFill>
                <a:latin typeface="DejaVu Sans"/>
              </a:defRPr>
            </a:pPr>
            <a:r>
              <a:t>Then swap roles.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